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CHECKPOINT SEMANA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Projeto MDM Supply Chain · Dias 8-14 · 28.6% Completo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📊 PROGRESSO GERAL — DIAS 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✅ SEMANA 1 (Dias 1-7): COMPLETA</a:t>
            </a:r>
          </a:p>
          <a:p>
            <a:pPr>
              <a:spcAft>
                <a:spcPts val="800"/>
              </a:spcAft>
              <a:defRPr sz="1600"/>
            </a:pPr>
            <a:r>
              <a:t>   • Setup ambiente + Geração dados</a:t>
            </a:r>
          </a:p>
          <a:p>
            <a:pPr>
              <a:spcAft>
                <a:spcPts val="800"/>
              </a:spcAft>
              <a:defRPr sz="1600"/>
            </a:pPr>
            <a:r>
              <a:t>   • Duplicatas: R$ 18,2M economia</a:t>
            </a:r>
          </a:p>
          <a:p>
            <a:pPr>
              <a:spcAft>
                <a:spcPts val="800"/>
              </a:spcAft>
              <a:defRPr sz="1600"/>
            </a:pPr>
            <a:r>
              <a:t>   • Completude: R$ 2,5M economia</a:t>
            </a:r>
          </a:p>
          <a:p>
            <a:pPr>
              <a:spcAft>
                <a:spcPts val="800"/>
              </a:spcAft>
              <a:defRPr sz="1600"/>
            </a:pPr>
            <a:r>
              <a:t>   • Dashboard Excel + Checkpoint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✅ SEMANA 2 (Dias 8-14): COMPLETA</a:t>
            </a:r>
          </a:p>
          <a:p>
            <a:pPr>
              <a:spcAft>
                <a:spcPts val="800"/>
              </a:spcAft>
              <a:defRPr sz="1600"/>
            </a:pPr>
            <a:r>
              <a:t>   • SQL: 20 queries (básicas + avançadas)</a:t>
            </a:r>
          </a:p>
          <a:p>
            <a:pPr>
              <a:spcAft>
                <a:spcPts val="800"/>
              </a:spcAft>
              <a:defRPr sz="1600"/>
            </a:pPr>
            <a:r>
              <a:t>   • Padronização: R$ 27k</a:t>
            </a:r>
          </a:p>
          <a:p>
            <a:pPr>
              <a:spcAft>
                <a:spcPts val="800"/>
              </a:spcAft>
              <a:defRPr sz="1600"/>
            </a:pPr>
            <a:r>
              <a:t>   • Fornecedores: R$ 73k</a:t>
            </a:r>
          </a:p>
          <a:p>
            <a:pPr>
              <a:spcAft>
                <a:spcPts val="800"/>
              </a:spcAft>
              <a:defRPr sz="1600"/>
            </a:pPr>
            <a:r>
              <a:t>   • Movimentações: R$ 50k</a:t>
            </a:r>
          </a:p>
          <a:p>
            <a:pPr>
              <a:spcAft>
                <a:spcPts val="800"/>
              </a:spcAft>
              <a:defRPr sz="1600"/>
            </a:pPr>
            <a:r>
              <a:t>   • Acuracidade: R$ 17,9M</a:t>
            </a:r>
          </a:p>
          <a:p>
            <a:pPr>
              <a:spcAft>
                <a:spcPts val="800"/>
              </a:spcAft>
              <a:defRPr sz="1600"/>
            </a:pPr>
            <a:r>
              <a:t>   • Power BI Dashboard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📊 PROGRESSO: 14 de 49 dias (28,6%)</a:t>
            </a:r>
          </a:p>
          <a:p>
            <a:pPr>
              <a:spcAft>
                <a:spcPts val="800"/>
              </a:spcAft>
              <a:defRPr sz="1600"/>
            </a:pPr>
            <a:r>
              <a:t>⏱️ VELOCIDADE: 100% (no cronograma)</a:t>
            </a:r>
          </a:p>
          <a:p>
            <a:pPr>
              <a:spcAft>
                <a:spcPts val="800"/>
              </a:spcAft>
              <a:defRPr sz="1600"/>
            </a:pPr>
            <a:r>
              <a:t>🏆 QUALIDADE: Sem refações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💰 IMPACTO FINANCEIRO CONSOLIDADO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ECONOMIA DIRETA MAPEADA: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🥇 Duplicatas (Dia 3): R$ 18.200.000/ano</a:t>
            </a:r>
          </a:p>
          <a:p>
            <a:pPr>
              <a:defRPr sz="1500"/>
            </a:pPr>
            <a:r>
              <a:t>   95.5% base duplicada → 0%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🥈 Acuracidade (Dia 12): R$ 17.948.065/ano</a:t>
            </a:r>
          </a:p>
          <a:p>
            <a:pPr>
              <a:defRPr sz="1500"/>
            </a:pPr>
            <a:r>
              <a:t>   Shrinkage 0,89% controlado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🥉 Completude (Dia 4): R$ 2.500.000/ano</a:t>
            </a:r>
          </a:p>
          <a:p>
            <a:pPr>
              <a:defRPr sz="1500"/>
            </a:pPr>
            <a:r>
              <a:t>   Score 93% → 95%+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📝 Padronização (Dia 9): R$ 27.000/ano</a:t>
            </a:r>
          </a:p>
          <a:p>
            <a:pPr>
              <a:defRPr sz="1500"/>
            </a:pPr>
            <a:r>
              <a:t>🏢 Fornecedores (Dia 10): R$ 73.000/ano</a:t>
            </a:r>
          </a:p>
          <a:p>
            <a:pPr>
              <a:defRPr sz="1500"/>
            </a:pPr>
            <a:r>
              <a:t>📦 Movimentações (Dia 11): R$ 50.000/ano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━━━━━━━━━━━━━━━━━━━━━━━━━━━━━━━━━</a:t>
            </a:r>
          </a:p>
          <a:p>
            <a:pPr>
              <a:defRPr sz="1500"/>
            </a:pPr>
            <a:r>
              <a:t>TOTAL: R$ 38.798.065/ano (2,15% estoque)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+ RISCO FISCAL: R$ 5-10M (NCMs vazios)</a:t>
            </a:r>
          </a:p>
          <a:p>
            <a:pPr>
              <a:defRPr sz="1500"/>
            </a:pPr>
            <a:r>
              <a:t>━━━━━━━━━━━━━━━━━━━━━━━━━━━━━━━━━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🎯 DESTAQUES TÉCNICOS — SEMANA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DIA 8: SQL AVANÇADO ⭐⭐⭐⭐⭐</a:t>
            </a:r>
          </a:p>
          <a:p>
            <a:pPr>
              <a:defRPr sz="1600"/>
            </a:pPr>
            <a:r>
              <a:t>• 20 queries (10 básicas + 10 avançadas)</a:t>
            </a:r>
          </a:p>
          <a:p>
            <a:pPr>
              <a:defRPr sz="1600"/>
            </a:pPr>
            <a:r>
              <a:t>• Window Functions: ROW_NUMBER + PARTITION BY</a:t>
            </a:r>
          </a:p>
          <a:p>
            <a:pPr>
              <a:defRPr sz="1600"/>
            </a:pPr>
            <a:r>
              <a:t>• CTEs complexos para Curva ABC</a:t>
            </a:r>
          </a:p>
          <a:p>
            <a:pPr>
              <a:defRPr sz="1600"/>
            </a:pPr>
            <a:r>
              <a:t>• Score qualidade em SQL puro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DIA 12: ACURACIDADE ⭐⭐⭐⭐⭐</a:t>
            </a:r>
          </a:p>
          <a:p>
            <a:pPr>
              <a:defRPr sz="1600"/>
            </a:pPr>
            <a:r>
              <a:t>• Simulação físico × sistema (3.300 materiais)</a:t>
            </a:r>
          </a:p>
          <a:p>
            <a:pPr>
              <a:defRPr sz="1600"/>
            </a:pPr>
            <a:r>
              <a:t>• Score 99,11% (meta: &gt;95%) ✅</a:t>
            </a:r>
          </a:p>
          <a:p>
            <a:pPr>
              <a:defRPr sz="1600"/>
            </a:pPr>
            <a:r>
              <a:t>• Shrinkage 0,89% (benchmark: 1-3%) ✅</a:t>
            </a:r>
          </a:p>
          <a:p>
            <a:pPr>
              <a:defRPr sz="1600"/>
            </a:pPr>
            <a:r>
              <a:t>• 74 materiais críticos identificados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DIA 13: POWER BI ⭐⭐⭐⭐</a:t>
            </a:r>
          </a:p>
          <a:p>
            <a:pPr>
              <a:defRPr sz="1600"/>
            </a:pPr>
            <a:r>
              <a:t>• Dashboard 2 páginas interativas</a:t>
            </a:r>
          </a:p>
          <a:p>
            <a:pPr>
              <a:defRPr sz="1600"/>
            </a:pPr>
            <a:r>
              <a:t>• 10 medidas DAX + 6 colunas calculadas</a:t>
            </a:r>
          </a:p>
          <a:p>
            <a:pPr>
              <a:defRPr sz="1600"/>
            </a:pPr>
            <a:r>
              <a:t>• Filtros dinâmicos (categoria/status/fornecedor)</a:t>
            </a:r>
          </a:p>
          <a:p>
            <a:pPr>
              <a:defRPr sz="1600"/>
            </a:pPr>
            <a:r>
              <a:t>• HTML exportado + 2 PNGs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🎓 SKILLS DEMONSTRADAS — SEMANA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SQL AVANÇADO:</a:t>
            </a:r>
          </a:p>
          <a:p>
            <a:pPr>
              <a:defRPr sz="1500"/>
            </a:pPr>
            <a:r>
              <a:t>✅ Window Functions (ROW_NUMBER, RANK, PARTITION BY)</a:t>
            </a:r>
          </a:p>
          <a:p>
            <a:pPr>
              <a:defRPr sz="1500"/>
            </a:pPr>
            <a:r>
              <a:t>✅ CTEs (Common Table Expressions)</a:t>
            </a:r>
          </a:p>
          <a:p>
            <a:pPr>
              <a:defRPr sz="1500"/>
            </a:pPr>
            <a:r>
              <a:t>✅ Subqueries complexas</a:t>
            </a:r>
          </a:p>
          <a:p>
            <a:pPr>
              <a:defRPr sz="1500"/>
            </a:pPr>
            <a:r>
              <a:t>✅ CASE WHEN lógica condicional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ANÁLISE DE DADOS:</a:t>
            </a:r>
          </a:p>
          <a:p>
            <a:pPr>
              <a:defRPr sz="1500"/>
            </a:pPr>
            <a:r>
              <a:t>✅ Padronização textos (regex, string manipulation)</a:t>
            </a:r>
          </a:p>
          <a:p>
            <a:pPr>
              <a:defRPr sz="1500"/>
            </a:pPr>
            <a:r>
              <a:t>✅ Curva ABC fornecedores (Pareto 80/20)</a:t>
            </a:r>
          </a:p>
          <a:p>
            <a:pPr>
              <a:defRPr sz="1500"/>
            </a:pPr>
            <a:r>
              <a:t>✅ Análise temporal (dias sem movimento)</a:t>
            </a:r>
          </a:p>
          <a:p>
            <a:pPr>
              <a:defRPr sz="1500"/>
            </a:pPr>
            <a:r>
              <a:t>✅ Simulação acuracidade (físico vs sistema)</a:t>
            </a:r>
          </a:p>
          <a:p>
            <a:pPr>
              <a:defRPr sz="1500"/>
            </a:pPr>
            <a:r>
              <a:t>✅ Score ponderado (10 critérios)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VISUALIZAÇÃO:</a:t>
            </a:r>
          </a:p>
          <a:p>
            <a:pPr>
              <a:defRPr sz="1500"/>
            </a:pPr>
            <a:r>
              <a:t>✅ Power BI (DAX, modelagem, interatividade)</a:t>
            </a:r>
          </a:p>
          <a:p>
            <a:pPr>
              <a:defRPr sz="1500"/>
            </a:pPr>
            <a:r>
              <a:t>✅ 8 dashboards Python (matplotlib + seaborn)</a:t>
            </a:r>
          </a:p>
          <a:p>
            <a:pPr>
              <a:defRPr sz="1500"/>
            </a:pPr>
            <a:r>
              <a:t>✅ KPIs executivos (cartões, gauges)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📁 ENTREGAS — SEMANA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SCRIPTS PYTHON: 4 arquivos</a:t>
            </a:r>
          </a:p>
          <a:p>
            <a:pPr>
              <a:defRPr sz="1600"/>
            </a:pPr>
            <a:r>
              <a:t>├─ 03_padronizacao.py</a:t>
            </a:r>
          </a:p>
          <a:p>
            <a:pPr>
              <a:defRPr sz="1600"/>
            </a:pPr>
            <a:r>
              <a:t>├─ 04_analise_fornecedores.py</a:t>
            </a:r>
          </a:p>
          <a:p>
            <a:pPr>
              <a:defRPr sz="1600"/>
            </a:pPr>
            <a:r>
              <a:t>├─ 05_analise_movimentacoes.py</a:t>
            </a:r>
          </a:p>
          <a:p>
            <a:pPr>
              <a:defRPr sz="1600"/>
            </a:pPr>
            <a:r>
              <a:t>└─ 06_analise_acuracidade.py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SQL: 2 arquivos (20 queries totais)</a:t>
            </a:r>
          </a:p>
          <a:p>
            <a:pPr>
              <a:defRPr sz="1600"/>
            </a:pPr>
            <a:r>
              <a:t>├─ 01_queries_basicas.sql</a:t>
            </a:r>
          </a:p>
          <a:p>
            <a:pPr>
              <a:defRPr sz="1600"/>
            </a:pPr>
            <a:r>
              <a:t>└─ 02_queries_avancadas.sql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VISUALIZAÇÕES: 6 arquivos PNG</a:t>
            </a:r>
          </a:p>
          <a:p>
            <a:pPr>
              <a:defRPr sz="1600"/>
            </a:pPr>
            <a:r>
              <a:t>├─ Dias 9-12: 4 dashboards Python</a:t>
            </a:r>
          </a:p>
          <a:p>
            <a:pPr>
              <a:defRPr sz="1600"/>
            </a:pPr>
            <a:r>
              <a:t>└─ Dia 13: 2 páginas Power BI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CSVs PROCESSADOS: 4 arquivos</a:t>
            </a:r>
          </a:p>
          <a:p>
            <a:pPr>
              <a:defRPr sz="1600"/>
            </a:pPr>
            <a:r>
              <a:t>DOCUMENTAÇÃO: 2 guias completos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━━━━━━━━━━━━━━━━━━━━━━━━━━</a:t>
            </a:r>
          </a:p>
          <a:p>
            <a:pPr>
              <a:defRPr sz="1600"/>
            </a:pPr>
            <a:r>
              <a:t>TOTAL: 18 arquivos profissionais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📊 MÉTRICAS DE QUALIDADE ALCANÇADAS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DUPLICATAS:</a:t>
            </a:r>
          </a:p>
          <a:p>
            <a:pPr>
              <a:defRPr sz="1400"/>
            </a:pPr>
            <a:r>
              <a:t>✅ 525 grupos identificados → 0% após consolidação</a:t>
            </a:r>
          </a:p>
          <a:p>
            <a:pPr>
              <a:defRPr sz="1400"/>
            </a:pPr>
            <a:r>
              <a:t>✅ 95,5% base afetada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COMPLETUDE:</a:t>
            </a:r>
          </a:p>
          <a:p>
            <a:pPr>
              <a:defRPr sz="1400"/>
            </a:pPr>
            <a:r>
              <a:t>✅ Score: 93,41% → Meta 95%+ em 90 dias</a:t>
            </a:r>
          </a:p>
          <a:p>
            <a:pPr>
              <a:defRPr sz="1400"/>
            </a:pPr>
            <a:r>
              <a:t>✅ 1.236 violações priorizadas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PADRONIZAÇÃO:</a:t>
            </a:r>
          </a:p>
          <a:p>
            <a:pPr>
              <a:defRPr sz="1400"/>
            </a:pPr>
            <a:r>
              <a:t>✅ 7.281 inconsistências corrigidas</a:t>
            </a:r>
          </a:p>
          <a:p>
            <a:pPr>
              <a:defRPr sz="1400"/>
            </a:pPr>
            <a:r>
              <a:t>✅ 12 grupos categóricos normalizados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ACURACIDADE:</a:t>
            </a:r>
          </a:p>
          <a:p>
            <a:pPr>
              <a:defRPr sz="1400"/>
            </a:pPr>
            <a:r>
              <a:t>✅ 99,11% acuracidade (meta: &gt;95%) ⭐</a:t>
            </a:r>
          </a:p>
          <a:p>
            <a:pPr>
              <a:defRPr sz="1400"/>
            </a:pPr>
            <a:r>
              <a:t>✅ Shrinkage: 0,89% (benchmark: 1-3%) ⭐</a:t>
            </a:r>
          </a:p>
          <a:p>
            <a:pPr>
              <a:defRPr sz="1400"/>
            </a:pPr>
            <a:r>
              <a:t>✅ 54,7% materiais classe A (±2%)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FORNECEDORES:</a:t>
            </a:r>
          </a:p>
          <a:p>
            <a:pPr>
              <a:defRPr sz="1400"/>
            </a:pPr>
            <a:r>
              <a:t>✅ 9 fornecedores analisados (Curva ABC)</a:t>
            </a:r>
          </a:p>
          <a:p>
            <a:pPr>
              <a:defRPr sz="1400"/>
            </a:pPr>
            <a:r>
              <a:t>✅ 20% materiais sem fornecedor identificados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💡 LIÇÕES APRENDIDAS — SEMANA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✅ ACERTOS:</a:t>
            </a:r>
          </a:p>
          <a:p>
            <a:pPr>
              <a:defRPr sz="1500"/>
            </a:pPr>
            <a:r>
              <a:t>• Window Functions SQL = skill #1 MDM</a:t>
            </a:r>
          </a:p>
          <a:p>
            <a:pPr>
              <a:defRPr sz="1500"/>
            </a:pPr>
            <a:r>
              <a:t>• Acuracidade 99% superou expectativas</a:t>
            </a:r>
          </a:p>
          <a:p>
            <a:pPr>
              <a:defRPr sz="1500"/>
            </a:pPr>
            <a:r>
              <a:t>• Power BI Dashboard interativo funcional</a:t>
            </a:r>
          </a:p>
          <a:p>
            <a:pPr>
              <a:defRPr sz="1500"/>
            </a:pPr>
            <a:r>
              <a:t>• Críticas podcast → ajustes narrativa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⚠️ DESAFIOS SUPERADOS:</a:t>
            </a:r>
          </a:p>
          <a:p>
            <a:pPr>
              <a:defRPr sz="1500"/>
            </a:pPr>
            <a:r>
              <a:t>• Dia 11: Erro data referência (2024→2026)</a:t>
            </a:r>
          </a:p>
          <a:p>
            <a:pPr>
              <a:defRPr sz="1500"/>
            </a:pPr>
            <a:r>
              <a:t>• Dia 12: KeyError coluna faltante</a:t>
            </a:r>
          </a:p>
          <a:p>
            <a:pPr>
              <a:defRPr sz="1500"/>
            </a:pPr>
            <a:r>
              <a:t>• Ambos corrigidos em &lt;5 minutos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🎯 MELHORIAS APLICADAS:</a:t>
            </a:r>
          </a:p>
          <a:p>
            <a:pPr>
              <a:defRPr sz="1500"/>
            </a:pPr>
            <a:r>
              <a:t>• Narrativa: Foco risco fiscal (R$ 5-10M)</a:t>
            </a:r>
          </a:p>
          <a:p>
            <a:pPr>
              <a:defRPr sz="1500"/>
            </a:pPr>
            <a:r>
              <a:t>• Impacto: R$ 38,8M (não R$ 85k!)</a:t>
            </a:r>
          </a:p>
          <a:p>
            <a:pPr>
              <a:defRPr sz="1500"/>
            </a:pPr>
            <a:r>
              <a:t>• Governança: Modelo automatizado (SLA 5min)</a:t>
            </a:r>
          </a:p>
          <a:p>
            <a:pPr>
              <a:defRPr sz="1500"/>
            </a:pPr>
            <a:r>
              <a:t>• Tom: Executivo vs pessoal separados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📈 RESULTADO:</a:t>
            </a:r>
          </a:p>
          <a:p>
            <a:pPr>
              <a:defRPr sz="1500"/>
            </a:pPr>
            <a:r>
              <a:t>Portfolio "bom" → "excepcional"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💰 ROI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INVESTIMENTO:</a:t>
            </a:r>
          </a:p>
          <a:p>
            <a:pPr algn="ctr">
              <a:defRPr sz="1800" b="1"/>
            </a:pPr>
            <a:r>
              <a:t>• 49 dias × 1 FTE júnior</a:t>
            </a:r>
          </a:p>
          <a:p>
            <a:pPr algn="ctr">
              <a:defRPr sz="1800" b="1"/>
            </a:pPr>
            <a:r>
              <a:t>• Custo estimado: ~R$ 30.000</a:t>
            </a:r>
          </a:p>
          <a:p>
            <a:pPr algn="ctr">
              <a:defRPr sz="1800" b="1"/>
            </a:pPr>
          </a:p>
          <a:p>
            <a:pPr algn="ctr">
              <a:defRPr sz="1800" b="1"/>
            </a:pPr>
            <a:r>
              <a:t>RETORNO ANO 1:</a:t>
            </a:r>
          </a:p>
          <a:p>
            <a:pPr algn="ctr">
              <a:defRPr sz="1800" b="1"/>
            </a:pPr>
            <a:r>
              <a:t>• Economia direta: R$ 38.798.065</a:t>
            </a:r>
          </a:p>
          <a:p>
            <a:pPr algn="ctr">
              <a:defRPr sz="1800" b="1"/>
            </a:pPr>
            <a:r>
              <a:t>• Risco fiscal evitado: R$ 5-10.000.000</a:t>
            </a:r>
          </a:p>
          <a:p>
            <a:pPr algn="ctr">
              <a:defRPr sz="1800" b="1"/>
            </a:pPr>
            <a:r>
              <a:t>• TOTAL: R$ 43-48 milhões</a:t>
            </a:r>
          </a:p>
          <a:p>
            <a:pPr algn="ctr">
              <a:defRPr sz="1800" b="1"/>
            </a:pPr>
          </a:p>
          <a:p>
            <a:pPr algn="ctr">
              <a:defRPr sz="1800" b="1"/>
            </a:pPr>
            <a:r>
              <a:t>━━━━━━━━━━━━━━━━━━━━━━━━━━━━━</a:t>
            </a:r>
          </a:p>
          <a:p>
            <a:pPr algn="ctr">
              <a:defRPr sz="1800" b="1"/>
            </a:pPr>
            <a:r>
              <a:t>ROI: 12.900% - 160.000%</a:t>
            </a:r>
          </a:p>
          <a:p>
            <a:pPr algn="ctr">
              <a:defRPr sz="1800" b="1"/>
            </a:pPr>
            <a:r>
              <a:t>PAYBACK: &lt; 90 dias</a:t>
            </a:r>
          </a:p>
          <a:p>
            <a:pPr algn="ctr">
              <a:defRPr sz="1800" b="1"/>
            </a:pPr>
            <a:r>
              <a:t>━━━━━━━━━━━━━━━━━━━━━━━━━━━━━</a:t>
            </a:r>
          </a:p>
          <a:p>
            <a:pPr algn="ctr">
              <a:defRPr sz="1800" b="1"/>
            </a:pPr>
          </a:p>
          <a:p>
            <a:pPr algn="ctr">
              <a:defRPr sz="1800" b="1"/>
            </a:pPr>
            <a:r>
              <a:t>IMPACTO POR DIA:</a:t>
            </a:r>
          </a:p>
          <a:p>
            <a:pPr algn="ctr">
              <a:defRPr sz="1800" b="1"/>
            </a:pPr>
            <a:r>
              <a:t>R$ 38,8M / 365 dias = R$ 106.267/dia</a:t>
            </a:r>
          </a:p>
          <a:p>
            <a:pPr algn="ctr">
              <a:defRPr sz="1800" b="1"/>
            </a:pPr>
          </a:p>
          <a:p>
            <a:pPr algn="ctr">
              <a:defRPr sz="1800" b="1"/>
            </a:pPr>
            <a:r>
              <a:t>IMPACTO POR HORA PROJETO:</a:t>
            </a:r>
          </a:p>
          <a:p>
            <a:pPr algn="ctr">
              <a:defRPr sz="1800" b="1"/>
            </a:pPr>
            <a:r>
              <a:t>R$ 38,8M / (49 dias × 8h) = R$ 98.975/hora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🎯 PRÓXIMOS PASSOS — SEMANA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DIAS 15-21: ANÁLISES AVANÇADAS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Dia 15: Análise de Categorização</a:t>
            </a:r>
          </a:p>
          <a:p>
            <a:pPr>
              <a:defRPr sz="1600"/>
            </a:pPr>
            <a:r>
              <a:t>• Hierarquias categóricas</a:t>
            </a:r>
          </a:p>
          <a:p>
            <a:pPr>
              <a:defRPr sz="1600"/>
            </a:pPr>
            <a:r>
              <a:t>• Cross-category duplicatas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Dia 16: Análise de Preços (Outliers)</a:t>
            </a:r>
          </a:p>
          <a:p>
            <a:pPr>
              <a:defRPr sz="1600"/>
            </a:pPr>
            <a:r>
              <a:t>• Detecção preços anormais</a:t>
            </a:r>
          </a:p>
          <a:p>
            <a:pPr>
              <a:defRPr sz="1600"/>
            </a:pPr>
            <a:r>
              <a:t>• Comparação mercado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Dia 17: Análise de Sazonalidade</a:t>
            </a:r>
          </a:p>
          <a:p>
            <a:pPr>
              <a:defRPr sz="1600"/>
            </a:pPr>
            <a:r>
              <a:t>• Padrões temporais consumo</a:t>
            </a:r>
          </a:p>
          <a:p>
            <a:pPr>
              <a:defRPr sz="1600"/>
            </a:pPr>
            <a:r>
              <a:t>• Forecast demanda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Dia 18-19: Implementação Correções</a:t>
            </a:r>
          </a:p>
          <a:p>
            <a:pPr>
              <a:defRPr sz="1600"/>
            </a:pPr>
            <a:r>
              <a:t>• Scripts automatização correções</a:t>
            </a:r>
          </a:p>
          <a:p>
            <a:pPr>
              <a:defRPr sz="1600"/>
            </a:pPr>
            <a:r>
              <a:t>• Workflow de governança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Dia 20: Testes Validação</a:t>
            </a:r>
          </a:p>
          <a:p>
            <a:pPr>
              <a:defRPr sz="1600"/>
            </a:pPr>
            <a:r>
              <a:t>• QA scripts criados</a:t>
            </a:r>
          </a:p>
          <a:p>
            <a:pPr>
              <a:defRPr sz="1600"/>
            </a:pPr>
            <a:r>
              <a:t>• Validação integridade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Dia 21: Checkpoint Semana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🎯 OBJETIVOS — SEMANA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META PROGRESSO: 42,9% (21 de 49 dias)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ENTREGAS ESPERADAS:</a:t>
            </a:r>
          </a:p>
          <a:p>
            <a:pPr>
              <a:defRPr sz="1500"/>
            </a:pPr>
            <a:r>
              <a:t>✅ 4 análises complementares</a:t>
            </a:r>
          </a:p>
          <a:p>
            <a:pPr>
              <a:defRPr sz="1500"/>
            </a:pPr>
            <a:r>
              <a:t>✅ Scripts automatização (governança)</a:t>
            </a:r>
          </a:p>
          <a:p>
            <a:pPr>
              <a:defRPr sz="1500"/>
            </a:pPr>
            <a:r>
              <a:t>✅ Workflow de correções</a:t>
            </a:r>
          </a:p>
          <a:p>
            <a:pPr>
              <a:defRPr sz="1500"/>
            </a:pPr>
            <a:r>
              <a:t>✅ Testes validação QA</a:t>
            </a:r>
          </a:p>
          <a:p>
            <a:pPr>
              <a:defRPr sz="1500"/>
            </a:pPr>
            <a:r>
              <a:t>✅ Checkpoint Semana 3 (PPT)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SKILLS FOCO:</a:t>
            </a:r>
          </a:p>
          <a:p>
            <a:pPr>
              <a:defRPr sz="1500"/>
            </a:pPr>
            <a:r>
              <a:t>✅ Análises estatísticas avançadas</a:t>
            </a:r>
          </a:p>
          <a:p>
            <a:pPr>
              <a:defRPr sz="1500"/>
            </a:pPr>
            <a:r>
              <a:t>✅ Detecção outliers (Z-score, IQR)</a:t>
            </a:r>
          </a:p>
          <a:p>
            <a:pPr>
              <a:defRPr sz="1500"/>
            </a:pPr>
            <a:r>
              <a:t>✅ Séries temporais básicas</a:t>
            </a:r>
          </a:p>
          <a:p>
            <a:pPr>
              <a:defRPr sz="1500"/>
            </a:pPr>
            <a:r>
              <a:t>✅ Automação workflows</a:t>
            </a:r>
          </a:p>
          <a:p>
            <a:pPr>
              <a:defRPr sz="1500"/>
            </a:pPr>
            <a:r>
              <a:t>✅ Test-driven development (TDD)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ECONOMIA ADICIONAL ESPERADA:</a:t>
            </a:r>
          </a:p>
          <a:p>
            <a:pPr>
              <a:defRPr sz="1500"/>
            </a:pPr>
            <a:r>
              <a:t>✅ R$ 5-10k adicional (refinamentos)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TOTAL ACUMULADO SEMANA 3:</a:t>
            </a:r>
          </a:p>
          <a:p>
            <a:pPr>
              <a:defRPr sz="1500"/>
            </a:pPr>
            <a:r>
              <a:t>R$ 38,8M → R$ 38,9M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