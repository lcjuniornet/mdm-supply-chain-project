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CHECKPOINT SEMANA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Projeto MDM Supply Chain · Dias 15-21 · 42,9% Completo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📊 PROGRESSO GERAL — DIAS 1-21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✅ SEMANA 1 (Dias 1-7): COMPLETA</a:t>
            </a:r>
          </a:p>
          <a:p>
            <a:pPr>
              <a:spcAft>
                <a:spcPts val="1000"/>
              </a:spcAft>
              <a:defRPr sz="1600"/>
            </a:pPr>
            <a:r>
              <a:t>   • Setup + Dados + Duplicatas + Completude</a:t>
            </a:r>
          </a:p>
          <a:p>
            <a:pPr>
              <a:spcAft>
                <a:spcPts val="1000"/>
              </a:spcAft>
              <a:defRPr sz="1600"/>
            </a:pPr>
            <a:r>
              <a:t>   • Economia: R$ 20,7M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✅ SEMANA 2 (Dias 8-14): COMPLETA</a:t>
            </a:r>
          </a:p>
          <a:p>
            <a:pPr>
              <a:spcAft>
                <a:spcPts val="1000"/>
              </a:spcAft>
              <a:defRPr sz="1600"/>
            </a:pPr>
            <a:r>
              <a:t>   • SQL (20 queries) + 4 Análises + Power BI</a:t>
            </a:r>
          </a:p>
          <a:p>
            <a:pPr>
              <a:spcAft>
                <a:spcPts val="1000"/>
              </a:spcAft>
              <a:defRPr sz="1600"/>
            </a:pPr>
            <a:r>
              <a:t>   • Economia: R$ 18,1M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✅ SEMANA 3 (Dias 15-21): COMPLETA</a:t>
            </a:r>
          </a:p>
          <a:p>
            <a:pPr>
              <a:spcAft>
                <a:spcPts val="1000"/>
              </a:spcAft>
              <a:defRPr sz="1600"/>
            </a:pPr>
            <a:r>
              <a:t>   • Preços + Sazonalidade + Implementação + QA</a:t>
            </a:r>
          </a:p>
          <a:p>
            <a:pPr>
              <a:spcAft>
                <a:spcPts val="1000"/>
              </a:spcAft>
              <a:defRPr sz="1600"/>
            </a:pPr>
            <a:r>
              <a:t>   • Economia: R$ 4,5M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📊 PROGRESSO TOTAL: 21 de 49 dias (42,9%)</a:t>
            </a:r>
          </a:p>
          <a:p>
            <a:pPr>
              <a:spcAft>
                <a:spcPts val="1000"/>
              </a:spcAft>
              <a:defRPr sz="1600"/>
            </a:pPr>
            <a:r>
              <a:t>⏱️ VELOCIDADE: 100% (no cronograma)</a:t>
            </a:r>
          </a:p>
          <a:p>
            <a:pPr>
              <a:spcAft>
                <a:spcPts val="1000"/>
              </a:spcAft>
              <a:defRPr sz="1600"/>
            </a:pPr>
            <a:r>
              <a:t>🏆 QUALIDADE: 97% QA aprovado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🎯 RESUMO SEMANA 3 (Dias 15-21)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DIAS EXECUTADOS:</a:t>
            </a:r>
          </a:p>
          <a:p>
            <a:pPr>
              <a:defRPr sz="1500"/>
            </a:pPr>
            <a:r>
              <a:t>━━━━━━━━━━━━━━━━━━━━━━━━━━━━━━━━━━━━━━━━</a:t>
            </a:r>
          </a:p>
          <a:p>
            <a:pPr>
              <a:defRPr sz="1500"/>
            </a:pPr>
            <a:r>
              <a:t>Dia 15: Categorização        ⏭️ PULADO</a:t>
            </a:r>
          </a:p>
          <a:p>
            <a:pPr>
              <a:defRPr sz="1500"/>
            </a:pPr>
            <a:r>
              <a:t>Dia 16: Preços Outliers      ✅ R$ 3.028/ano</a:t>
            </a:r>
          </a:p>
          <a:p>
            <a:pPr>
              <a:defRPr sz="1500"/>
            </a:pPr>
            <a:r>
              <a:t>Dia 17: Sazonalidade         ✅ R$ 4.399.776/ano</a:t>
            </a:r>
          </a:p>
          <a:p>
            <a:pPr>
              <a:defRPr sz="1500"/>
            </a:pPr>
            <a:r>
              <a:t>Dia 18-19: Implementação     ✅ R$ 125.000/ano (ops)</a:t>
            </a:r>
          </a:p>
          <a:p>
            <a:pPr>
              <a:defRPr sz="1500"/>
            </a:pPr>
            <a:r>
              <a:t>Dia 20: Testes QA            ✅ 97% APROVADO</a:t>
            </a:r>
          </a:p>
          <a:p>
            <a:pPr>
              <a:defRPr sz="1500"/>
            </a:pPr>
            <a:r>
              <a:t>Dia 21: Checkpoint           ✅ COMPLETO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ECONOMIA SEMANA 3: R$ 4.527.804/ano</a:t>
            </a:r>
          </a:p>
          <a:p>
            <a:pPr>
              <a:defRPr sz="1500"/>
            </a:pPr>
            <a:r>
              <a:t>ENTREGAS: 5 scripts + 3 dashboards + QA</a:t>
            </a:r>
          </a:p>
          <a:p>
            <a:pPr>
              <a:defRPr sz="1500"/>
            </a:pPr>
            <a:r>
              <a:t>QUALIDADE: 97% (28 PASS, 1 FAIL não crítico)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💰 DIA 16 — ANÁLISE PREÇOS E 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MÉTODOS UTILIZADOS:</a:t>
            </a:r>
          </a:p>
          <a:p>
            <a:pPr>
              <a:defRPr sz="1400"/>
            </a:pPr>
            <a:r>
              <a:t>━━━━━━━━━━━━━━━━━━━━━━━━━━━━━━━━━━━━━━━━</a:t>
            </a:r>
          </a:p>
          <a:p>
            <a:pPr>
              <a:defRPr sz="1400"/>
            </a:pPr>
            <a:r>
              <a:t>1. PREÇOS ZERADOS (Crítico!)</a:t>
            </a:r>
          </a:p>
          <a:p>
            <a:pPr>
              <a:defRPr sz="1400"/>
            </a:pPr>
            <a:r>
              <a:t>   • 99 materiais R$ 0,00 identificados</a:t>
            </a:r>
          </a:p>
          <a:p>
            <a:pPr>
              <a:defRPr sz="1400"/>
            </a:pPr>
            <a:r>
              <a:t>   • Balanço subavaliado: R$ 5.022.442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Z-SCORE (Outliers Estatísticos)</a:t>
            </a:r>
          </a:p>
          <a:p>
            <a:pPr>
              <a:defRPr sz="1400"/>
            </a:pPr>
            <a:r>
              <a:t>   • 120 materiais Z &gt; 3 (extremos)</a:t>
            </a:r>
          </a:p>
          <a:p>
            <a:pPr>
              <a:defRPr sz="1400"/>
            </a:pPr>
            <a:r>
              <a:t>   • Limite: R$ 827,65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IQR (Método Robusto)</a:t>
            </a:r>
          </a:p>
          <a:p>
            <a:pPr>
              <a:defRPr sz="1400"/>
            </a:pPr>
            <a:r>
              <a:t>   • 621 materiais acima limite</a:t>
            </a:r>
          </a:p>
          <a:p>
            <a:pPr>
              <a:defRPr sz="1400"/>
            </a:pPr>
            <a:r>
              <a:t>   • Mais robusto que Z-Score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4. INTRA-CATEGORIA</a:t>
            </a:r>
          </a:p>
          <a:p>
            <a:pPr>
              <a:defRPr sz="1400"/>
            </a:pPr>
            <a:r>
              <a:t>   • 741 materiais suspeitos</a:t>
            </a:r>
          </a:p>
          <a:p>
            <a:pPr>
              <a:defRPr sz="1400"/>
            </a:pPr>
            <a:r>
              <a:t>   • Preço 10× acima/abaixo mediana categoria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ECONOMIA: R$ 3.028/ano</a:t>
            </a:r>
          </a:p>
          <a:p>
            <a:pPr>
              <a:defRPr sz="1400"/>
            </a:pPr>
            <a:r>
              <a:t>DASHBOARD: 8 gráficos profissionais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📈 DIA 17 — ANÁLISE DE SAZONALIDADE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DESCOBERTAS PRINCIPAIS:</a:t>
            </a:r>
          </a:p>
          <a:p>
            <a:pPr>
              <a:defRPr sz="1400"/>
            </a:pPr>
            <a:r>
              <a:t>━━━━━━━━━━━━━━━━━━━━━━━━━━━━━━━━━━━━━━━━</a:t>
            </a:r>
          </a:p>
          <a:p>
            <a:pPr>
              <a:defRPr sz="1400"/>
            </a:pPr>
            <a:r>
              <a:t>SAZONALIDADE GERAL:</a:t>
            </a:r>
          </a:p>
          <a:p>
            <a:pPr>
              <a:defRPr sz="1400"/>
            </a:pPr>
            <a:r>
              <a:t>• 14 categorias MODERADA (93%)</a:t>
            </a:r>
          </a:p>
          <a:p>
            <a:pPr>
              <a:defRPr sz="1400"/>
            </a:pPr>
            <a:r>
              <a:t>• 1 categoria BAIXA (7%)</a:t>
            </a:r>
          </a:p>
          <a:p>
            <a:pPr>
              <a:defRPr sz="1400"/>
            </a:pPr>
            <a:r>
              <a:t>• 0 categorias ALTA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PADRÕES IDENTIFICADOS:</a:t>
            </a:r>
          </a:p>
          <a:p>
            <a:pPr>
              <a:defRPr sz="1400"/>
            </a:pPr>
            <a:r>
              <a:t>• Mês PICO: Julho (299 movimentações)</a:t>
            </a:r>
          </a:p>
          <a:p>
            <a:pPr>
              <a:defRPr sz="1400"/>
            </a:pPr>
            <a:r>
              <a:t>• Mês VALE: Setembro (253 movimentações)</a:t>
            </a:r>
          </a:p>
          <a:p>
            <a:pPr>
              <a:defRPr sz="1400"/>
            </a:pPr>
            <a:r>
              <a:t>• Variação: 18,2%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FORECAST Q2 2026:</a:t>
            </a:r>
          </a:p>
          <a:p>
            <a:pPr>
              <a:defRPr sz="1400"/>
            </a:pPr>
            <a:r>
              <a:t>• 5 categorias previstas</a:t>
            </a:r>
          </a:p>
          <a:p>
            <a:pPr>
              <a:defRPr sz="1400"/>
            </a:pPr>
            <a:r>
              <a:t>• Método: Moving Average 3 meses</a:t>
            </a:r>
          </a:p>
          <a:p>
            <a:pPr>
              <a:defRPr sz="1400"/>
            </a:pPr>
            <a:r>
              <a:t>• Total previsto: 309 movimentações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ECONOMIA: R$ 4.399.776/ano 🏆</a:t>
            </a:r>
          </a:p>
          <a:p>
            <a:pPr>
              <a:defRPr sz="1400"/>
            </a:pPr>
            <a:r>
              <a:t>(1.100× MAIOR que estimativa inicial!)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Custo capital 12% sobre R$ 36,6M estoque otimizado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🔧 DIAS 18-19 — IMPLEMENTAÇÃO CORREÇÕES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CORREÇÕES AUTOMATIZADAS:</a:t>
            </a:r>
          </a:p>
          <a:p>
            <a:pPr>
              <a:defRPr sz="1400"/>
            </a:pPr>
            <a:r>
              <a:t>━━━━━━━━━━━━━━━━━━━━━━━━━━━━━━━━━━━━━━━━</a:t>
            </a:r>
          </a:p>
          <a:p>
            <a:pPr>
              <a:defRPr sz="1400"/>
            </a:pPr>
            <a:r>
              <a:t>1. PREÇOS ZERADOS: 99 corrigidos (mediana categoria)</a:t>
            </a:r>
          </a:p>
          <a:p>
            <a:pPr>
              <a:defRPr sz="1400"/>
            </a:pPr>
            <a:r>
              <a:t>2. NCMs VAZIOS: 623 marcados (validação manual)</a:t>
            </a:r>
          </a:p>
          <a:p>
            <a:pPr>
              <a:defRPr sz="1400"/>
            </a:pPr>
            <a:r>
              <a:t>3. FORNECEDORES: 660 pendentes identificados</a:t>
            </a:r>
          </a:p>
          <a:p>
            <a:pPr>
              <a:defRPr sz="1400"/>
            </a:pPr>
            <a:r>
              <a:t>4. PADRONIZAÇÃO: 7.281 inconsistências corrigidas</a:t>
            </a:r>
          </a:p>
          <a:p>
            <a:pPr>
              <a:defRPr sz="1400"/>
            </a:pPr>
            <a:r>
              <a:t>5. OUTLIERS: 741 marcados para revisão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WORKFLOW GOVERNANÇA (3 NÍVEIS):</a:t>
            </a:r>
          </a:p>
          <a:p>
            <a:pPr>
              <a:defRPr sz="1400"/>
            </a:pPr>
            <a:r>
              <a:t>━━━━━━━━━━━━━━━━━━━━━━━━━━━━━━━━━━━━━━━━</a:t>
            </a:r>
          </a:p>
          <a:p>
            <a:pPr>
              <a:defRPr sz="1400"/>
            </a:pPr>
            <a:r>
              <a:t>Caminho 1: Auto-aprovação    73% (SLA: 3 seg)</a:t>
            </a:r>
          </a:p>
          <a:p>
            <a:pPr>
              <a:defRPr sz="1400"/>
            </a:pPr>
            <a:r>
              <a:t>Caminho 2: Supervisor        18% (SLA: 4h)</a:t>
            </a:r>
          </a:p>
          <a:p>
            <a:pPr>
              <a:defRPr sz="1400"/>
            </a:pPr>
            <a:r>
              <a:t>Caminho 3: MDO               8%  (SLA: 24h)</a:t>
            </a:r>
          </a:p>
          <a:p>
            <a:pPr>
              <a:defRPr sz="1400"/>
            </a:pPr>
            <a:r>
              <a:t>Rejeitados:                  1%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EFICIÊNCIA: 10× mais rápido que manual!</a:t>
            </a:r>
          </a:p>
          <a:p>
            <a:pPr>
              <a:defRPr sz="1400"/>
            </a:pPr>
            <a:r>
              <a:t>ECONOMIA: R$ 125.000 (operacional)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✅ DIA 20 — TESTES E VALIDAÇÃO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/>
            </a:pPr>
            <a:r>
              <a:t>╔══════════════════════════════════════════╗</a:t>
            </a:r>
          </a:p>
          <a:p>
            <a:pPr algn="ctr">
              <a:defRPr sz="1500" b="1"/>
            </a:pPr>
            <a:r>
              <a:t>║     SCORE QA: 97% APROVADO! 🏆          ║</a:t>
            </a:r>
          </a:p>
          <a:p>
            <a:pPr algn="ctr">
              <a:defRPr sz="1500" b="1"/>
            </a:pPr>
            <a:r>
              <a:t>╚══════════════════════════════════════════╝</a:t>
            </a:r>
          </a:p>
          <a:p>
            <a:pPr algn="ctr">
              <a:defRPr sz="1500" b="1"/>
            </a:pPr>
          </a:p>
          <a:p>
            <a:pPr algn="ctr">
              <a:defRPr sz="1500" b="1"/>
            </a:pPr>
            <a:r>
              <a:t>TOTAL TESTES:     29</a:t>
            </a:r>
          </a:p>
          <a:p>
            <a:pPr algn="ctr">
              <a:defRPr sz="1500" b="1"/>
            </a:pPr>
            <a:r>
              <a:t>PASSED (✅):      28 (96,6%)</a:t>
            </a:r>
          </a:p>
          <a:p>
            <a:pPr algn="ctr">
              <a:defRPr sz="1500" b="1"/>
            </a:pPr>
            <a:r>
              <a:t>FAILED (❌):       1 (3,4%)</a:t>
            </a:r>
          </a:p>
          <a:p>
            <a:pPr algn="ctr">
              <a:defRPr sz="1500" b="1"/>
            </a:pPr>
            <a:r>
              <a:t>WARNINGS (⚠️):     0 (0%)</a:t>
            </a:r>
          </a:p>
          <a:p>
            <a:pPr algn="ctr">
              <a:defRPr sz="1500" b="1"/>
            </a:pPr>
          </a:p>
          <a:p>
            <a:pPr algn="ctr">
              <a:defRPr sz="1500" b="1"/>
            </a:pPr>
            <a:r>
              <a:t>TESTES POR BLOCO:</a:t>
            </a:r>
          </a:p>
          <a:p>
            <a:pPr algn="ctr">
              <a:defRPr sz="1500" b="1"/>
            </a:pPr>
            <a:r>
              <a:t>━━━━━━━━━━━━━━━━━━━━━━━━━━━━━━━━━━━━━━━━</a:t>
            </a:r>
          </a:p>
          <a:p>
            <a:pPr algn="ctr">
              <a:defRPr sz="1500" b="1"/>
            </a:pPr>
            <a:r>
              <a:t>Bloco 1: Integridade Base         99%</a:t>
            </a:r>
          </a:p>
          <a:p>
            <a:pPr algn="ctr">
              <a:defRPr sz="1500" b="1"/>
            </a:pPr>
            <a:r>
              <a:t>Bloco 2: Preços (Dia 16)          95%</a:t>
            </a:r>
          </a:p>
          <a:p>
            <a:pPr algn="ctr">
              <a:defRPr sz="1500" b="1"/>
            </a:pPr>
            <a:r>
              <a:t>Bloco 3: Sazonalidade (Dia 17)   100%</a:t>
            </a:r>
          </a:p>
          <a:p>
            <a:pPr algn="ctr">
              <a:defRPr sz="1500" b="1"/>
            </a:pPr>
            <a:r>
              <a:t>Bloco 4: Completude/NCM           81%</a:t>
            </a:r>
          </a:p>
          <a:p>
            <a:pPr algn="ctr">
              <a:defRPr sz="1500" b="1"/>
            </a:pPr>
            <a:r>
              <a:t>Bloco 5: Consistência Textos      85%</a:t>
            </a:r>
          </a:p>
          <a:p>
            <a:pPr algn="ctr">
              <a:defRPr sz="1500" b="1"/>
            </a:pPr>
          </a:p>
          <a:p>
            <a:pPr algn="ctr">
              <a:defRPr sz="1500" b="1"/>
            </a:pPr>
            <a:r>
              <a:t>ÚNICO FAIL: Tipo preco_unitario</a:t>
            </a:r>
          </a:p>
          <a:p>
            <a:pPr algn="ctr">
              <a:defRPr sz="1500" b="1"/>
            </a:pPr>
            <a:r>
              <a:t>(Impacto BAIXO - não crítico)</a:t>
            </a:r>
          </a:p>
          <a:p>
            <a:pPr algn="ctr">
              <a:defRPr sz="1500" b="1"/>
            </a:pPr>
          </a:p>
          <a:p>
            <a:pPr algn="ctr">
              <a:defRPr sz="1500" b="1"/>
            </a:pPr>
            <a:r>
              <a:t>CONCLUSÃO: APROVADO PARA PRODUÇÃO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💰 ECONOMIA CONSOLIDADA (DIAS 1-21)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ECONOMIA DIRETA ANUAL:</a:t>
            </a:r>
          </a:p>
          <a:p>
            <a:pPr>
              <a:defRPr sz="1500"/>
            </a:pPr>
            <a:r>
              <a:t>━━━━━━━━━━━━━━━━━━━━━━━━━━━━━━━━━━━━━━━━</a:t>
            </a:r>
          </a:p>
          <a:p>
            <a:pPr>
              <a:defRPr sz="1500"/>
            </a:pPr>
            <a:r>
              <a:t>Dia 3:  Duplicatas             R$ 18.200.000</a:t>
            </a:r>
          </a:p>
          <a:p>
            <a:pPr>
              <a:defRPr sz="1500"/>
            </a:pPr>
            <a:r>
              <a:t>Dia 4:  Completude             R$  2.500.000</a:t>
            </a:r>
          </a:p>
          <a:p>
            <a:pPr>
              <a:defRPr sz="1500"/>
            </a:pPr>
            <a:r>
              <a:t>Dia 9:  Padronização           R$     27.000</a:t>
            </a:r>
          </a:p>
          <a:p>
            <a:pPr>
              <a:defRPr sz="1500"/>
            </a:pPr>
            <a:r>
              <a:t>Dia 10: Fornecedores           R$     73.000</a:t>
            </a:r>
          </a:p>
          <a:p>
            <a:pPr>
              <a:defRPr sz="1500"/>
            </a:pPr>
            <a:r>
              <a:t>Dia 11: Movimentações          R$     50.000</a:t>
            </a:r>
          </a:p>
          <a:p>
            <a:pPr>
              <a:defRPr sz="1500"/>
            </a:pPr>
            <a:r>
              <a:t>Dia 12: Acuracidade            R$ 17.948.065</a:t>
            </a:r>
          </a:p>
          <a:p>
            <a:pPr>
              <a:defRPr sz="1500"/>
            </a:pPr>
            <a:r>
              <a:t>Dia 16: Preços Outliers        R$      3.028</a:t>
            </a:r>
          </a:p>
          <a:p>
            <a:pPr>
              <a:defRPr sz="1500"/>
            </a:pPr>
            <a:r>
              <a:t>Dia 17: Sazonalidade           R$  4.399.776</a:t>
            </a:r>
          </a:p>
          <a:p>
            <a:pPr>
              <a:defRPr sz="1500"/>
            </a:pPr>
            <a:r>
              <a:t>Dia 18-19: Implementação       R$    125.000</a:t>
            </a:r>
          </a:p>
          <a:p>
            <a:pPr>
              <a:defRPr sz="1500"/>
            </a:pPr>
            <a:r>
              <a:t>Dia 20: Testes QA              R$     15.000</a:t>
            </a:r>
          </a:p>
          <a:p>
            <a:pPr>
              <a:defRPr sz="1500"/>
            </a:pPr>
            <a:r>
              <a:t>        ────────────────────────────────────</a:t>
            </a:r>
          </a:p>
          <a:p>
            <a:pPr>
              <a:defRPr sz="1500"/>
            </a:pPr>
            <a:r>
              <a:t>        TOTAL DIRETO:          R$ 43.340.869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+ Risco Fiscal Evitado:        R$  5-10.000.000</a:t>
            </a:r>
          </a:p>
          <a:p>
            <a:pPr>
              <a:defRPr sz="1500"/>
            </a:pPr>
            <a:r>
              <a:t>+ Balanço Recuperado:          R$  5.022.442</a:t>
            </a:r>
          </a:p>
          <a:p>
            <a:pPr>
              <a:defRPr sz="1500"/>
            </a:pPr>
            <a:r>
              <a:t>═════════════════════════════════════════════</a:t>
            </a:r>
          </a:p>
          <a:p>
            <a:pPr>
              <a:defRPr sz="1500"/>
            </a:pPr>
            <a:r>
              <a:t>IMPACTO TOTAL: R$ 53-58 MILHÕES! 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🎓 SKILLS DEMONSTRADAS — SEMANA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ANÁLISE ESTATÍSTICA:</a:t>
            </a:r>
          </a:p>
          <a:p>
            <a:pPr>
              <a:defRPr sz="1400"/>
            </a:pPr>
            <a:r>
              <a:t>✅ Z-Score (outlier detection)</a:t>
            </a:r>
          </a:p>
          <a:p>
            <a:pPr>
              <a:defRPr sz="1400"/>
            </a:pPr>
            <a:r>
              <a:t>✅ IQR (Intervalo Interquartílico)</a:t>
            </a:r>
          </a:p>
          <a:p>
            <a:pPr>
              <a:defRPr sz="1400"/>
            </a:pPr>
            <a:r>
              <a:t>✅ Coeficiente Variação (CV)</a:t>
            </a:r>
          </a:p>
          <a:p>
            <a:pPr>
              <a:defRPr sz="1400"/>
            </a:pPr>
            <a:r>
              <a:t>✅ Sazonalidade temporal</a:t>
            </a:r>
          </a:p>
          <a:p>
            <a:pPr>
              <a:defRPr sz="1400"/>
            </a:pPr>
            <a:r>
              <a:t>✅ Forecast (Moving Average)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AUTOMAÇÃO:</a:t>
            </a:r>
          </a:p>
          <a:p>
            <a:pPr>
              <a:defRPr sz="1400"/>
            </a:pPr>
            <a:r>
              <a:t>✅ Batch processing (9.000 correções)</a:t>
            </a:r>
          </a:p>
          <a:p>
            <a:pPr>
              <a:defRPr sz="1400"/>
            </a:pPr>
            <a:r>
              <a:t>✅ Workflow 3 níveis governança</a:t>
            </a:r>
          </a:p>
          <a:p>
            <a:pPr>
              <a:defRPr sz="1400"/>
            </a:pPr>
            <a:r>
              <a:t>✅ Validações automatizadas</a:t>
            </a:r>
          </a:p>
          <a:p>
            <a:pPr>
              <a:defRPr sz="1400"/>
            </a:pPr>
            <a:r>
              <a:t>✅ Logging estruturado (JSON)</a:t>
            </a:r>
          </a:p>
          <a:p>
            <a:pPr>
              <a:defRPr sz="1400"/>
            </a:pPr>
            <a:r>
              <a:t>✅ Backup automático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TESTES E QA:</a:t>
            </a:r>
          </a:p>
          <a:p>
            <a:pPr>
              <a:defRPr sz="1400"/>
            </a:pPr>
            <a:r>
              <a:t>✅ Suite 29 testes completa</a:t>
            </a:r>
          </a:p>
          <a:p>
            <a:pPr>
              <a:defRPr sz="1400"/>
            </a:pPr>
            <a:r>
              <a:t>✅ Assertions automatizadas</a:t>
            </a:r>
          </a:p>
          <a:p>
            <a:pPr>
              <a:defRPr sz="1400"/>
            </a:pPr>
            <a:r>
              <a:t>✅ Score 97% aprovado</a:t>
            </a:r>
          </a:p>
          <a:p>
            <a:pPr>
              <a:defRPr sz="1400"/>
            </a:pPr>
            <a:r>
              <a:t>✅ Test-driven approach</a:t>
            </a:r>
          </a:p>
          <a:p>
            <a:pPr>
              <a:defRPr sz="1400"/>
            </a:pPr>
            <a:r>
              <a:t>✅ Relatórios validação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GOVERNANÇA:</a:t>
            </a:r>
          </a:p>
          <a:p>
            <a:pPr>
              <a:defRPr sz="1400"/>
            </a:pPr>
            <a:r>
              <a:t>✅ Matriz RACI implementada</a:t>
            </a:r>
          </a:p>
          <a:p>
            <a:pPr>
              <a:defRPr sz="1400"/>
            </a:pPr>
            <a:r>
              <a:t>✅ SLA tracking (5h vs 48h manual)</a:t>
            </a:r>
          </a:p>
          <a:p>
            <a:pPr>
              <a:defRPr sz="1400"/>
            </a:pPr>
            <a:r>
              <a:t>✅ Throughput 10× maior</a:t>
            </a:r>
          </a:p>
          <a:p>
            <a:pPr>
              <a:defRPr sz="1400"/>
            </a:pPr>
            <a:r>
              <a:t>✅ Aprovação por exceção</a:t>
            </a:r>
          </a:p>
          <a:p>
            <a:pPr>
              <a:defRPr sz="1400"/>
            </a:pPr>
            <a:r>
              <a:t>✅ Auditoria 100%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📁 ENTREGAS — SEMANA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SCRIPTS PYTHON: 5</a:t>
            </a:r>
          </a:p>
          <a:p>
            <a:pPr>
              <a:defRPr sz="1400"/>
            </a:pPr>
            <a:r>
              <a:t>├─ 08_precos_outliers.py (527 linhas)</a:t>
            </a:r>
          </a:p>
          <a:p>
            <a:pPr>
              <a:defRPr sz="1400"/>
            </a:pPr>
            <a:r>
              <a:t>├─ 09_analise_sazonalidade.py (600 linhas)</a:t>
            </a:r>
          </a:p>
          <a:p>
            <a:pPr>
              <a:defRPr sz="1400"/>
            </a:pPr>
            <a:r>
              <a:t>├─ 10_implementacao_correcoes.py (600 linhas)</a:t>
            </a:r>
          </a:p>
          <a:p>
            <a:pPr>
              <a:defRPr sz="1400"/>
            </a:pPr>
            <a:r>
              <a:t>├─ 11_workflow_governanca.py (322 linhas)</a:t>
            </a:r>
          </a:p>
          <a:p>
            <a:pPr>
              <a:defRPr sz="1400"/>
            </a:pPr>
            <a:r>
              <a:t>└─ 12_testes_validacao.py (479 linhas)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DASHBOARDS PNG: 3</a:t>
            </a:r>
          </a:p>
          <a:p>
            <a:pPr>
              <a:defRPr sz="1400"/>
            </a:pPr>
            <a:r>
              <a:t>├─ 08_precos_outliers.png (8 gráficos)</a:t>
            </a:r>
          </a:p>
          <a:p>
            <a:pPr>
              <a:defRPr sz="1400"/>
            </a:pPr>
            <a:r>
              <a:t>├─ 09_sazonalidade.png (8 gráficos)</a:t>
            </a:r>
          </a:p>
          <a:p>
            <a:pPr>
              <a:defRPr sz="1400"/>
            </a:pPr>
            <a:r>
              <a:t>└─ 11_testes_validacao.png (6 gráficos)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CSVs PROCESSADOS: 8+</a:t>
            </a:r>
          </a:p>
          <a:p>
            <a:pPr>
              <a:defRPr sz="1400"/>
            </a:pPr>
            <a:r>
              <a:t>├─ precos_outliers_top50.csv</a:t>
            </a:r>
          </a:p>
          <a:p>
            <a:pPr>
              <a:defRPr sz="1400"/>
            </a:pPr>
            <a:r>
              <a:t>├─ sazonalidade_por_categoria.csv</a:t>
            </a:r>
          </a:p>
          <a:p>
            <a:pPr>
              <a:defRPr sz="1400"/>
            </a:pPr>
            <a:r>
              <a:t>├─ forecast_q2_2026.csv</a:t>
            </a:r>
          </a:p>
          <a:p>
            <a:pPr>
              <a:defRPr sz="1400"/>
            </a:pPr>
            <a:r>
              <a:t>├─ materiais_corrigidos_*.csv</a:t>
            </a:r>
          </a:p>
          <a:p>
            <a:pPr>
              <a:defRPr sz="1400"/>
            </a:pPr>
            <a:r>
              <a:t>└─ (+ logs e validações)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POWERPOINT: 1</a:t>
            </a:r>
          </a:p>
          <a:p>
            <a:pPr>
              <a:defRPr sz="1400"/>
            </a:pPr>
            <a:r>
              <a:t>└─ checkpoint_semana3.pptx (este arquivo!)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TOTAL: 25+ arquivos profissionais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💡 LIÇÕES APRENDIDAS — SEMANA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✅ ACERTOS:</a:t>
            </a:r>
          </a:p>
          <a:p>
            <a:pPr>
              <a:defRPr sz="1400"/>
            </a:pPr>
            <a:r>
              <a:t>• Modo simulação antes produção</a:t>
            </a:r>
          </a:p>
          <a:p>
            <a:pPr>
              <a:defRPr sz="1400"/>
            </a:pPr>
            <a:r>
              <a:t>• Workflow 3 níveis (73% auto-aprovação)</a:t>
            </a:r>
          </a:p>
          <a:p>
            <a:pPr>
              <a:defRPr sz="1400"/>
            </a:pPr>
            <a:r>
              <a:t>• Suite QA 97% (rigorosa e abrangente)</a:t>
            </a:r>
          </a:p>
          <a:p>
            <a:pPr>
              <a:defRPr sz="1400"/>
            </a:pPr>
            <a:r>
              <a:t>• Sazonalidade 1.100× estimativa!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⚠️ DESAFIOS SUPERADOS:</a:t>
            </a:r>
          </a:p>
          <a:p>
            <a:pPr>
              <a:defRPr sz="1400"/>
            </a:pPr>
            <a:r>
              <a:t>• NCM float → string (corrigido)</a:t>
            </a:r>
          </a:p>
          <a:p>
            <a:pPr>
              <a:defRPr sz="1400"/>
            </a:pPr>
            <a:r>
              <a:t>• Tipo preco_unitario (1 FAIL QA)</a:t>
            </a:r>
          </a:p>
          <a:p>
            <a:pPr>
              <a:defRPr sz="1400"/>
            </a:pPr>
            <a:r>
              <a:t>• Unidades medida completas (ajustado)</a:t>
            </a:r>
          </a:p>
          <a:p>
            <a:pPr>
              <a:defRPr sz="1400"/>
            </a:pPr>
            <a:r>
              <a:t>• Contagem categorias (corrigido)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🎯 MELHORIAS APLICADAS:</a:t>
            </a:r>
          </a:p>
          <a:p>
            <a:pPr>
              <a:defRPr sz="1400"/>
            </a:pPr>
            <a:r>
              <a:t>• Logging completo (rastreabilidade 100%)</a:t>
            </a:r>
          </a:p>
          <a:p>
            <a:pPr>
              <a:defRPr sz="1400"/>
            </a:pPr>
            <a:r>
              <a:t>• Backup automático (segurança)</a:t>
            </a:r>
          </a:p>
          <a:p>
            <a:pPr>
              <a:defRPr sz="1400"/>
            </a:pPr>
            <a:r>
              <a:t>• Validações rigorosas (qualidade)</a:t>
            </a:r>
          </a:p>
          <a:p>
            <a:pPr>
              <a:defRPr sz="1400"/>
            </a:pPr>
            <a:r>
              <a:t>• Documentação detalhada (manutenção)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📈 RESULTADO:</a:t>
            </a:r>
          </a:p>
          <a:p>
            <a:pPr>
              <a:defRPr sz="1400"/>
            </a:pPr>
            <a:r>
              <a:t>Semana 3: R$ 4,5M economia + 10× eficiência</a:t>
            </a:r>
          </a:p>
          <a:p>
            <a:pPr>
              <a:defRPr sz="1400"/>
            </a:pPr>
            <a:r>
              <a:t>Projeto: 97% QA = APROVADO PRODUÇÃO! 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💰 ROI ATUALIZADO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INVESTIMENTO (21 dias):</a:t>
            </a:r>
          </a:p>
          <a:p>
            <a:pPr algn="ctr">
              <a:defRPr sz="1600" b="1"/>
            </a:pPr>
            <a:r>
              <a:t>━━━━━━━━━━━━━━━━━━━━━━━━━━━━━━━━━━━━━━━━</a:t>
            </a:r>
          </a:p>
          <a:p>
            <a:pPr algn="ctr">
              <a:defRPr sz="1600" b="1"/>
            </a:pPr>
            <a:r>
              <a:t>21 dias × 8h × R$ 75/h = R$ 12.600</a:t>
            </a:r>
          </a:p>
          <a:p>
            <a:pPr algn="ctr">
              <a:defRPr sz="1600" b="1"/>
            </a:pPr>
          </a:p>
          <a:p>
            <a:pPr algn="ctr">
              <a:defRPr sz="1600" b="1"/>
            </a:pPr>
            <a:r>
              <a:t>RETORNO ANO 1:</a:t>
            </a:r>
          </a:p>
          <a:p>
            <a:pPr algn="ctr">
              <a:defRPr sz="1600" b="1"/>
            </a:pPr>
            <a:r>
              <a:t>━━━━━━━━━━━━━━━━━━━━━━━━━━━━━━━━━━━━━━━━</a:t>
            </a:r>
          </a:p>
          <a:p>
            <a:pPr algn="ctr">
              <a:defRPr sz="1600" b="1"/>
            </a:pPr>
            <a:r>
              <a:t>Economia direta:       R$ 43.340.869</a:t>
            </a:r>
          </a:p>
          <a:p>
            <a:pPr algn="ctr">
              <a:defRPr sz="1600" b="1"/>
            </a:pPr>
            <a:r>
              <a:t>Risco fiscal evitado:  R$  5.000.000 (conservador)</a:t>
            </a:r>
          </a:p>
          <a:p>
            <a:pPr algn="ctr">
              <a:defRPr sz="1600" b="1"/>
            </a:pPr>
            <a:r>
              <a:t>TOTAL:                 R$ 48.340.869</a:t>
            </a:r>
          </a:p>
          <a:p>
            <a:pPr algn="ctr">
              <a:defRPr sz="1600" b="1"/>
            </a:pPr>
          </a:p>
          <a:p>
            <a:pPr algn="ctr">
              <a:defRPr sz="1600" b="1"/>
            </a:pPr>
            <a:r>
              <a:t>╔══════════════════════════════════════════╗</a:t>
            </a:r>
          </a:p>
          <a:p>
            <a:pPr algn="ctr">
              <a:defRPr sz="1600" b="1"/>
            </a:pPr>
            <a:r>
              <a:t>║  ROI: 38.365% (ano 1)                   ║</a:t>
            </a:r>
          </a:p>
          <a:p>
            <a:pPr algn="ctr">
              <a:defRPr sz="1600" b="1"/>
            </a:pPr>
            <a:r>
              <a:t>║  PAYBACK: 7 dias                         ║</a:t>
            </a:r>
          </a:p>
          <a:p>
            <a:pPr algn="ctr">
              <a:defRPr sz="1600" b="1"/>
            </a:pPr>
            <a:r>
              <a:t>║  IMPACTO/DIA: R$ 132.440                 ║</a:t>
            </a:r>
          </a:p>
          <a:p>
            <a:pPr algn="ctr">
              <a:defRPr sz="1600" b="1"/>
            </a:pPr>
            <a:r>
              <a:t>║  IMPACTO/HORA: R$ 101.227/hora           ║</a:t>
            </a:r>
          </a:p>
          <a:p>
            <a:pPr algn="ctr">
              <a:defRPr sz="1600" b="1"/>
            </a:pPr>
            <a:r>
              <a:t>╚══════════════════════════════════════════╝</a:t>
            </a:r>
          </a:p>
          <a:p>
            <a:pPr algn="ctr">
              <a:defRPr sz="1600" b="1"/>
            </a:pPr>
          </a:p>
          <a:p>
            <a:pPr algn="ctr">
              <a:defRPr sz="1600" b="1"/>
            </a:pPr>
            <a:r>
              <a:t>COMPARAÇÃO:</a:t>
            </a:r>
          </a:p>
          <a:p>
            <a:pPr algn="ctr">
              <a:defRPr sz="1600" b="1"/>
            </a:pPr>
            <a:r>
              <a:t>42,9% projeto = R$ 48M+ identificados</a:t>
            </a:r>
          </a:p>
          <a:p>
            <a:pPr algn="ctr">
              <a:defRPr sz="1600" b="1"/>
            </a:pPr>
            <a:r>
              <a:t>Investimento mínimo = retorno MASSIVO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🎯 PRÓXIMOS PASSOS — SEMANA 4-7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SEMANA 4 (Dias 22-28): GOVERNANÇA</a:t>
            </a:r>
          </a:p>
          <a:p>
            <a:pPr>
              <a:defRPr sz="1400"/>
            </a:pPr>
            <a:r>
              <a:t>━━━━━━━━━━━━━━━━━━━━━━━━━━━━━━━━━━━━━━━━</a:t>
            </a:r>
          </a:p>
          <a:p>
            <a:pPr>
              <a:defRPr sz="1400"/>
            </a:pPr>
            <a:r>
              <a:t>• Documentação políticas qualidade</a:t>
            </a:r>
          </a:p>
          <a:p>
            <a:pPr>
              <a:defRPr sz="1400"/>
            </a:pPr>
            <a:r>
              <a:t>• Dicionário dados completo</a:t>
            </a:r>
          </a:p>
          <a:p>
            <a:pPr>
              <a:defRPr sz="1400"/>
            </a:pPr>
            <a:r>
              <a:t>• Pipeline integrado</a:t>
            </a:r>
          </a:p>
          <a:p>
            <a:pPr>
              <a:defRPr sz="1400"/>
            </a:pPr>
            <a:r>
              <a:t>• Best practices MDM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SEMANA 5 (Dias 29-35): DOCUMENTAÇÃO</a:t>
            </a:r>
          </a:p>
          <a:p>
            <a:pPr>
              <a:defRPr sz="1400"/>
            </a:pPr>
            <a:r>
              <a:t>━━━━━━━━━━━━━━━━━━━━━━━━━━━━━━━━━━━━━━━━</a:t>
            </a:r>
          </a:p>
          <a:p>
            <a:pPr>
              <a:defRPr sz="1400"/>
            </a:pPr>
            <a:r>
              <a:t>• Metodologia completa</a:t>
            </a:r>
          </a:p>
          <a:p>
            <a:pPr>
              <a:defRPr sz="1400"/>
            </a:pPr>
            <a:r>
              <a:t>• Casos de uso</a:t>
            </a:r>
          </a:p>
          <a:p>
            <a:pPr>
              <a:defRPr sz="1400"/>
            </a:pPr>
            <a:r>
              <a:t>• Troubleshooting guide</a:t>
            </a:r>
          </a:p>
          <a:p>
            <a:pPr>
              <a:defRPr sz="1400"/>
            </a:pPr>
            <a:r>
              <a:t>• Lessons learned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SEMANA 6 (Dias 36-42): APRESENTAÇÃO</a:t>
            </a:r>
          </a:p>
          <a:p>
            <a:pPr>
              <a:defRPr sz="1400"/>
            </a:pPr>
            <a:r>
              <a:t>━━━━━━━━━━━━━━━━━━━━━━━━━━━━━━━━━━━━━━━━</a:t>
            </a:r>
          </a:p>
          <a:p>
            <a:pPr>
              <a:defRPr sz="1400"/>
            </a:pPr>
            <a:r>
              <a:t>• PowerPoint executivo (20 min)</a:t>
            </a:r>
          </a:p>
          <a:p>
            <a:pPr>
              <a:defRPr sz="1400"/>
            </a:pPr>
            <a:r>
              <a:t>• PowerPoint técnico (30 min)</a:t>
            </a:r>
          </a:p>
          <a:p>
            <a:pPr>
              <a:defRPr sz="1400"/>
            </a:pPr>
            <a:r>
              <a:t>• Vídeo demo (10 min)</a:t>
            </a:r>
          </a:p>
          <a:p>
            <a:pPr>
              <a:defRPr sz="1400"/>
            </a:pPr>
            <a:r>
              <a:t>• GitHub organizado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SEMANA 7 (Dias 43-49): FINALIZAÇÃO</a:t>
            </a:r>
          </a:p>
          <a:p>
            <a:pPr>
              <a:defRPr sz="1400"/>
            </a:pPr>
            <a:r>
              <a:t>━━━━━━━━━━━━━━━━━━━━━━━━━━━━━━━━━━━━━━━━</a:t>
            </a:r>
          </a:p>
          <a:p>
            <a:pPr>
              <a:defRPr sz="1400"/>
            </a:pPr>
            <a:r>
              <a:t>• Revisão código</a:t>
            </a:r>
          </a:p>
          <a:p>
            <a:pPr>
              <a:defRPr sz="1400"/>
            </a:pPr>
            <a:r>
              <a:t>• Testes finais</a:t>
            </a:r>
          </a:p>
          <a:p>
            <a:pPr>
              <a:defRPr sz="1400"/>
            </a:pPr>
            <a:r>
              <a:t>• LinkedIn post</a:t>
            </a:r>
          </a:p>
          <a:p>
            <a:pPr>
              <a:defRPr sz="1400"/>
            </a:pPr>
            <a:r>
              <a:t>• PROJETO 100% COMPLETO! 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🎯 OBJETIVOS — SEMANA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META PROGRESSO: 57,1% (28 de 49 dias)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ENTREGAS ESPERADAS:</a:t>
            </a:r>
          </a:p>
          <a:p>
            <a:pPr>
              <a:defRPr sz="1500"/>
            </a:pPr>
            <a:r>
              <a:t>✅ Documentação governança MDM</a:t>
            </a:r>
          </a:p>
          <a:p>
            <a:pPr>
              <a:defRPr sz="1500"/>
            </a:pPr>
            <a:r>
              <a:t>✅ Políticas qualidade dados</a:t>
            </a:r>
          </a:p>
          <a:p>
            <a:pPr>
              <a:defRPr sz="1500"/>
            </a:pPr>
            <a:r>
              <a:t>✅ Dicionário dados (3.300 materiais)</a:t>
            </a:r>
          </a:p>
          <a:p>
            <a:pPr>
              <a:defRPr sz="1500"/>
            </a:pPr>
            <a:r>
              <a:t>✅ Pipeline scripts integrado</a:t>
            </a:r>
          </a:p>
          <a:p>
            <a:pPr>
              <a:defRPr sz="1500"/>
            </a:pPr>
            <a:r>
              <a:t>✅ Best practices documentadas</a:t>
            </a:r>
          </a:p>
          <a:p>
            <a:pPr>
              <a:defRPr sz="1500"/>
            </a:pPr>
            <a:r>
              <a:t>✅ Checkpoint Semana 4 (PPT)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FOCO PRINCIPAL:</a:t>
            </a:r>
          </a:p>
          <a:p>
            <a:pPr>
              <a:defRPr sz="1500"/>
            </a:pPr>
            <a:r>
              <a:t>Formalizar processos e governança</a:t>
            </a:r>
          </a:p>
          <a:p>
            <a:pPr>
              <a:defRPr sz="1500"/>
            </a:pPr>
            <a:r>
              <a:t>estabelecidos nas Semanas 1-3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ECONOMIA ADICIONAL: R$ 0</a:t>
            </a:r>
          </a:p>
          <a:p>
            <a:pPr>
              <a:defRPr sz="1500"/>
            </a:pPr>
            <a:r>
              <a:t>(Governança = prevenção, não economia direta)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TOTAL ACUMULADO: R$ 43,3M validados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PRÓXIMO CHECKPOINT: Dia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E79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