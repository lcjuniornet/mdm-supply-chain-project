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E233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943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EXECUTIVA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5943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MDM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627632"/>
            <a:ext cx="5943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450592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Resultados, ROI e Plano de Ação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971800"/>
            <a:ext cx="4389120" cy="16459"/>
          </a:xfrm>
          <a:prstGeom prst="rect">
            <a:avLst/>
          </a:prstGeom>
          <a:solidFill>
            <a:srgbClr val="2D354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12724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691640" y="312724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3.300 materiais · R$ 1,83B em estoque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49300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691640" y="349300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Janeiro – Março 2026 · 31 dias de projeto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85876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691640" y="385876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 Owner · Supply Chain · Fiscal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29400" y="100584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R$ 45,5M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629400" y="175564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/ANO</a:t>
            </a:r>
            <a:endParaRPr lang="en-US" sz="900" dirty="0"/>
          </a:p>
          <a:p>
            <a:pPr algn="ctr" indent="0" marL="0">
              <a:buNone/>
            </a:pPr>
            <a:r>
              <a:rPr lang="en-US" sz="900" spc="200" kern="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75120" y="2377440"/>
            <a:ext cx="2194560" cy="16459"/>
          </a:xfrm>
          <a:prstGeom prst="rect">
            <a:avLst/>
          </a:prstGeom>
          <a:solidFill>
            <a:srgbClr val="2D3548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248716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54.743%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629400" y="312724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&lt; 1 mês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75120" y="3493008"/>
            <a:ext cx="2194560" cy="16459"/>
          </a:xfrm>
          <a:prstGeom prst="rect">
            <a:avLst/>
          </a:prstGeom>
          <a:solidFill>
            <a:srgbClr val="2D3548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3621024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QA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629400" y="42062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 por suite automatizada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Situação Antes do Projeto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2788920" cy="1261872"/>
          </a:xfrm>
          <a:prstGeom prst="rect">
            <a:avLst/>
          </a:prstGeom>
          <a:solidFill>
            <a:srgbClr val="1E2330"/>
          </a:solidFill>
          <a:ln/>
          <a:effectLst>
            <a:outerShdw sx="100000" sy="100000" kx="0" ky="0" algn="bl" rotWithShape="0" blurRad="177800" dist="635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64008" cy="1261872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" y="120700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788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84632" y="17739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NCMs inválidos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" y="20299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 da base · risco fiscal em NF-e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1115568"/>
            <a:ext cx="2788920" cy="1261872"/>
          </a:xfrm>
          <a:prstGeom prst="rect">
            <a:avLst/>
          </a:prstGeom>
          <a:solidFill>
            <a:srgbClr val="1E2330"/>
          </a:solidFill>
          <a:ln/>
          <a:effectLst>
            <a:outerShdw sx="100000" sy="100000" kx="0" ky="0" algn="bl" rotWithShape="0" blurRad="177800" dist="635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115568"/>
            <a:ext cx="64008" cy="1261872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12" name="Text 10"/>
          <p:cNvSpPr/>
          <p:nvPr/>
        </p:nvSpPr>
        <p:spPr>
          <a:xfrm>
            <a:off x="3410712" y="120700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660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3410712" y="17739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fornecedor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10712" y="20299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sem referência de compra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72200" y="1115568"/>
            <a:ext cx="2788920" cy="1261872"/>
          </a:xfrm>
          <a:prstGeom prst="rect">
            <a:avLst/>
          </a:prstGeom>
          <a:solidFill>
            <a:srgbClr val="1E2330"/>
          </a:solidFill>
          <a:ln/>
          <a:effectLst>
            <a:outerShdw sx="100000" sy="100000" kx="0" ky="0" algn="bl" rotWithShape="0" blurRad="177800" dist="635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115568"/>
            <a:ext cx="64008" cy="1261872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7" name="Text 15"/>
          <p:cNvSpPr/>
          <p:nvPr/>
        </p:nvSpPr>
        <p:spPr>
          <a:xfrm>
            <a:off x="6336792" y="120700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660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336792" y="17739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estoque mínimo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36792" y="20299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sem ponto de reposição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532888"/>
            <a:ext cx="2788920" cy="1261872"/>
          </a:xfrm>
          <a:prstGeom prst="rect">
            <a:avLst/>
          </a:prstGeom>
          <a:solidFill>
            <a:srgbClr val="1E2330"/>
          </a:solidFill>
          <a:ln/>
          <a:effectLst>
            <a:outerShdw sx="100000" sy="100000" kx="0" ky="0" algn="bl" rotWithShape="0" blurRad="177800" dist="635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532888"/>
            <a:ext cx="64008" cy="1261872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" y="262432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299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484632" y="31912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Duplicatas ativas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" y="3447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 com risco de compra dupla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46120" y="2532888"/>
            <a:ext cx="2788920" cy="1261872"/>
          </a:xfrm>
          <a:prstGeom prst="rect">
            <a:avLst/>
          </a:prstGeom>
          <a:solidFill>
            <a:srgbClr val="1E2330"/>
          </a:solidFill>
          <a:ln/>
          <a:effectLst>
            <a:outerShdw sx="100000" sy="100000" kx="0" ky="0" algn="bl" rotWithShape="0" blurRad="177800" dist="63500" dir="81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6120" y="2532888"/>
            <a:ext cx="64008" cy="1261872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7" name="Text 25"/>
          <p:cNvSpPr/>
          <p:nvPr/>
        </p:nvSpPr>
        <p:spPr>
          <a:xfrm>
            <a:off x="3410712" y="262432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809</a:t>
            </a:r>
            <a:endParaRPr lang="en-US" sz="4400" dirty="0"/>
          </a:p>
        </p:txBody>
      </p:sp>
      <p:sp>
        <p:nvSpPr>
          <p:cNvPr id="28" name="Text 26"/>
          <p:cNvSpPr/>
          <p:nvPr/>
        </p:nvSpPr>
        <p:spPr>
          <a:xfrm>
            <a:off x="3410712" y="31912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Obsoletos ativos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10712" y="3447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 parados &gt; 365 dias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72200" y="2532888"/>
            <a:ext cx="2788920" cy="1261872"/>
          </a:xfrm>
          <a:prstGeom prst="rect">
            <a:avLst/>
          </a:prstGeom>
          <a:solidFill>
            <a:srgbClr val="1E2330"/>
          </a:solidFill>
          <a:ln/>
          <a:effectLst>
            <a:outerShdw sx="100000" sy="100000" kx="0" ky="0" algn="bl" rotWithShape="0" blurRad="177800" dist="63500" dir="8100000">
              <a:srgbClr val="000000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72200" y="2532888"/>
            <a:ext cx="64008" cy="1261872"/>
          </a:xfrm>
          <a:prstGeom prst="rect">
            <a:avLst/>
          </a:prstGeom>
          <a:solidFill>
            <a:srgbClr val="7C8BA1"/>
          </a:solidFill>
          <a:ln/>
        </p:spPr>
      </p:sp>
      <p:sp>
        <p:nvSpPr>
          <p:cNvPr id="32" name="Text 30"/>
          <p:cNvSpPr/>
          <p:nvPr/>
        </p:nvSpPr>
        <p:spPr>
          <a:xfrm>
            <a:off x="6336792" y="262432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99</a:t>
            </a:r>
            <a:endParaRPr lang="en-US" sz="4400" dirty="0"/>
          </a:p>
        </p:txBody>
      </p:sp>
      <p:sp>
        <p:nvSpPr>
          <p:cNvPr id="33" name="Text 31"/>
          <p:cNvSpPr/>
          <p:nvPr/>
        </p:nvSpPr>
        <p:spPr>
          <a:xfrm>
            <a:off x="6336792" y="31912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Preços zerados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36792" y="3447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R$ 439k em risco patrimonial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4535424"/>
            <a:ext cx="8503920" cy="384048"/>
          </a:xfrm>
          <a:prstGeom prst="rect">
            <a:avLst/>
          </a:prstGeom>
          <a:solidFill>
            <a:srgbClr val="252B3A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535424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estimado sem ação corretiva: R$ 45,5M/ano em perdas por ineficiência, rupturas e risco fiscal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Abordagem em 4 Semanas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621792" cy="749808"/>
          </a:xfrm>
          <a:prstGeom prst="rect">
            <a:avLst/>
          </a:prstGeom>
          <a:solidFill>
            <a:srgbClr val="D4A843"/>
          </a:solidFill>
          <a:ln/>
          <a:effectLst>
            <a:outerShdw sx="100000" sy="100000" kx="0" ky="0" algn="bl" rotWithShape="0" blurRad="177800" dist="635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78992"/>
            <a:ext cx="6217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78992" y="1078992"/>
            <a:ext cx="7744968" cy="749808"/>
          </a:xfrm>
          <a:prstGeom prst="rect">
            <a:avLst/>
          </a:prstGeom>
          <a:solidFill>
            <a:srgbClr val="1E2330"/>
          </a:solidFill>
          <a:ln/>
          <a:effectLst>
            <a:outerShdw sx="100000" sy="100000" kx="0" ky="0" algn="bl" rotWithShape="0" blurRad="177800" dist="635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07008" y="11521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&amp; Limpeza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14447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exploratória · categorização · limpeza de preços e duplicatas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0" y="1225296"/>
            <a:ext cx="2148840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225296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R$ 18,1M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12064" y="1828800"/>
            <a:ext cx="36576" cy="146304"/>
          </a:xfrm>
          <a:prstGeom prst="rect">
            <a:avLst/>
          </a:prstGeom>
          <a:solidFill>
            <a:srgbClr val="2D3548"/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" y="1975104"/>
            <a:ext cx="621792" cy="749808"/>
          </a:xfrm>
          <a:prstGeom prst="rect">
            <a:avLst/>
          </a:prstGeom>
          <a:solidFill>
            <a:srgbClr val="2DD4BF"/>
          </a:solidFill>
          <a:ln/>
          <a:effectLst>
            <a:outerShdw sx="100000" sy="100000" kx="0" ky="0" algn="bl" rotWithShape="0" blurRad="177800" dist="63500" dir="81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" y="1975104"/>
            <a:ext cx="6217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78992" y="1975104"/>
            <a:ext cx="7744968" cy="749808"/>
          </a:xfrm>
          <a:prstGeom prst="rect">
            <a:avLst/>
          </a:prstGeom>
          <a:solidFill>
            <a:srgbClr val="1E2330"/>
          </a:solidFill>
          <a:ln/>
          <a:effectLst>
            <a:outerShdw sx="100000" sy="100000" kx="0" ky="0" algn="bl" rotWithShape="0" blurRad="177800" dist="63500" dir="81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207008" y="20482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Estoque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07008" y="23408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ABC · estoque mínimo · mapeamento de fornecedores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0" y="2121408"/>
            <a:ext cx="2148840" cy="4572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212140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R$ 20,7M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12064" y="2724912"/>
            <a:ext cx="36576" cy="146304"/>
          </a:xfrm>
          <a:prstGeom prst="rect">
            <a:avLst/>
          </a:prstGeom>
          <a:solidFill>
            <a:srgbClr val="2D3548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" y="2871216"/>
            <a:ext cx="621792" cy="749808"/>
          </a:xfrm>
          <a:prstGeom prst="rect">
            <a:avLst/>
          </a:prstGeom>
          <a:solidFill>
            <a:srgbClr val="4ADE80"/>
          </a:solidFill>
          <a:ln/>
          <a:effectLst>
            <a:outerShdw sx="100000" sy="100000" kx="0" ky="0" algn="bl" rotWithShape="0" blurRad="177800" dist="63500" dir="8100000">
              <a:srgbClr val="000000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0040" y="2871216"/>
            <a:ext cx="6217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78992" y="2871216"/>
            <a:ext cx="7744968" cy="749808"/>
          </a:xfrm>
          <a:prstGeom prst="rect">
            <a:avLst/>
          </a:prstGeom>
          <a:solidFill>
            <a:srgbClr val="1E2330"/>
          </a:solidFill>
          <a:ln/>
          <a:effectLst>
            <a:outerShdw sx="100000" sy="100000" kx="0" ky="0" algn="bl" rotWithShape="0" blurRad="177800" dist="63500" dir="8100000">
              <a:srgbClr val="000000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207008" y="29443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&amp; Governança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07008" y="323697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QA automatizada · 97% de score · validação estatística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0" y="3017520"/>
            <a:ext cx="2148840" cy="4572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30175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R$ 6,7M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12064" y="3621024"/>
            <a:ext cx="36576" cy="146304"/>
          </a:xfrm>
          <a:prstGeom prst="rect">
            <a:avLst/>
          </a:prstGeom>
          <a:solidFill>
            <a:srgbClr val="2D3548"/>
          </a:solidFill>
          <a:ln/>
        </p:spPr>
      </p:sp>
      <p:sp>
        <p:nvSpPr>
          <p:cNvPr id="29" name="Shape 27"/>
          <p:cNvSpPr/>
          <p:nvPr/>
        </p:nvSpPr>
        <p:spPr>
          <a:xfrm>
            <a:off x="320040" y="3767328"/>
            <a:ext cx="621792" cy="749808"/>
          </a:xfrm>
          <a:prstGeom prst="rect">
            <a:avLst/>
          </a:prstGeom>
          <a:solidFill>
            <a:srgbClr val="FB923C"/>
          </a:solidFill>
          <a:ln/>
          <a:effectLst>
            <a:outerShdw sx="100000" sy="100000" kx="0" ky="0" algn="bl" rotWithShape="0" blurRad="177800" dist="63500" dir="8100000">
              <a:srgbClr val="000000">
                <a:alpha val="2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20040" y="3767328"/>
            <a:ext cx="6217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078992" y="3767328"/>
            <a:ext cx="7744968" cy="749808"/>
          </a:xfrm>
          <a:prstGeom prst="rect">
            <a:avLst/>
          </a:prstGeom>
          <a:solidFill>
            <a:srgbClr val="1E2330"/>
          </a:solidFill>
          <a:ln/>
          <a:effectLst>
            <a:outerShdw sx="100000" sy="100000" kx="0" ky="0" algn="bl" rotWithShape="0" blurRad="177800" dist="63500" dir="8100000">
              <a:srgbClr val="000000">
                <a:alpha val="2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207008" y="3840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&amp; Entrega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207008" y="4133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Dicionário 52 campos · 12 KPIs · 10 SLAs · pipeline 5 estágios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0" y="3913632"/>
            <a:ext cx="2148840" cy="457200"/>
          </a:xfrm>
          <a:prstGeom prst="rect">
            <a:avLst/>
          </a:prstGeom>
          <a:solidFill>
            <a:srgbClr val="2D3548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0" y="3913632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de Qualidade — Antes vs. Agora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0040" y="1097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926080" y="1097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663440" y="1097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217920" y="1097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1097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" y="1389888"/>
            <a:ext cx="8412480" cy="16459"/>
          </a:xfrm>
          <a:prstGeom prst="rect">
            <a:avLst/>
          </a:prstGeom>
          <a:solidFill>
            <a:srgbClr val="2D3548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1481328"/>
            <a:ext cx="8503920" cy="475488"/>
          </a:xfrm>
          <a:prstGeom prst="rect">
            <a:avLst/>
          </a:prstGeom>
          <a:solidFill>
            <a:srgbClr val="1E233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48132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Completude Geral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26080" y="1481328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148132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148132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0" y="1481328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" y="2029968"/>
            <a:ext cx="8503920" cy="475488"/>
          </a:xfrm>
          <a:prstGeom prst="rect">
            <a:avLst/>
          </a:prstGeom>
          <a:solidFill>
            <a:srgbClr val="252B3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02996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NCM Válido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26080" y="2029968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202996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202996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0" y="2029968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⚠️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0040" y="2578608"/>
            <a:ext cx="8503920" cy="475488"/>
          </a:xfrm>
          <a:prstGeom prst="rect">
            <a:avLst/>
          </a:prstGeom>
          <a:solidFill>
            <a:srgbClr val="1E2330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257860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Acuracidade de Preços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26080" y="2578608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63440" y="257860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0" y="257860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0" y="2578608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20040" y="3127248"/>
            <a:ext cx="8503920" cy="475488"/>
          </a:xfrm>
          <a:prstGeom prst="rect">
            <a:avLst/>
          </a:prstGeom>
          <a:solidFill>
            <a:srgbClr val="252B3A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12724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Categorias Padronizadas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926080" y="3127248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63440" y="312724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17920" y="312724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772400" y="3127248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20040" y="3675888"/>
            <a:ext cx="8503920" cy="475488"/>
          </a:xfrm>
          <a:prstGeom prst="rect">
            <a:avLst/>
          </a:prstGeom>
          <a:solidFill>
            <a:srgbClr val="1E2330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367588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Fornecedor Cadastrado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926080" y="3675888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663440" y="367588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217920" y="367588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772400" y="3675888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⚠️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20040" y="4224528"/>
            <a:ext cx="8503920" cy="475488"/>
          </a:xfrm>
          <a:prstGeom prst="rect">
            <a:avLst/>
          </a:prstGeom>
          <a:solidFill>
            <a:srgbClr val="252B3A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422452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Ponderado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926080" y="4224528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71/100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663440" y="422452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92,8/100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217920" y="422452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772400" y="4224528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320040" y="4773168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NCM e Fornecedor em plano de ação 90 dias — metas atingidas após implementação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INOVAÇÃO DE PROCESSO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Automatizado de Integração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3886200" cy="3383280"/>
          </a:xfrm>
          <a:prstGeom prst="rect">
            <a:avLst/>
          </a:prstGeom>
          <a:solidFill>
            <a:srgbClr val="1E2330"/>
          </a:solidFill>
          <a:ln/>
          <a:effectLst>
            <a:outerShdw sx="100000" sy="100000" kx="0" ky="0" algn="bl" rotWithShape="0" blurRad="177800" dist="635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3886200" cy="384048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7899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— Processo Manual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45 min por cadastro (em média)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Sem validação automática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45059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Erros só descobertos na auditoria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88950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NCM preenchido manualmente, sem TIPI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32841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Zero rastreabilidade de alterações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76732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Duplicatas não detectadas no ato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37760" y="1078992"/>
            <a:ext cx="3886200" cy="3383280"/>
          </a:xfrm>
          <a:prstGeom prst="rect">
            <a:avLst/>
          </a:prstGeom>
          <a:solidFill>
            <a:srgbClr val="1E2330"/>
          </a:solidFill>
          <a:ln/>
          <a:effectLst>
            <a:outerShdw sx="100000" sy="100000" kx="0" ky="0" algn="bl" rotWithShape="0" blurRad="177800" dist="635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37760" y="1078992"/>
            <a:ext cx="3886200" cy="384048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6" name="Text 14"/>
          <p:cNvSpPr/>
          <p:nvPr/>
        </p:nvSpPr>
        <p:spPr>
          <a:xfrm>
            <a:off x="5074920" y="107899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— Pipeline Automatizado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74920" y="157276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8 min por cadastro (–82% de tempo)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74920" y="201168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 estágios de validação automática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74920" y="245059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Erros detectados e bloqueados em tempo real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74920" y="288950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NCM validado contra tabela TIPI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74920" y="332841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Log completo de quem fez o quê e quando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74920" y="376732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299 duplicatas identificadas e sinalizadas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97680" y="2468880"/>
            <a:ext cx="54864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4" name="Text 22"/>
          <p:cNvSpPr/>
          <p:nvPr/>
        </p:nvSpPr>
        <p:spPr>
          <a:xfrm>
            <a:off x="4224528" y="2212848"/>
            <a:ext cx="6949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3"/>
                </a:solidFill>
              </a:rPr>
              <a:t>→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320040" y="4617720"/>
            <a:ext cx="8503920" cy="34747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1.056 materiais AUTO-APROVADOS por sessão · 0,22 segundos de execução · Economia de 37 min por cadastro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NEGÓCIO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sobre Investimento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1965960" cy="1005840"/>
          </a:xfrm>
          <a:prstGeom prst="rect">
            <a:avLst/>
          </a:prstGeom>
          <a:solidFill>
            <a:srgbClr val="1E2330"/>
          </a:solidFill>
          <a:ln/>
          <a:effectLst>
            <a:outerShdw sx="100000" sy="100000" kx="0" ky="0" algn="bl" rotWithShape="0" blurRad="177800" dist="635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64008" cy="1005840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70432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R$ 57k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total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projeto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04872" y="1078992"/>
            <a:ext cx="1965960" cy="1005840"/>
          </a:xfrm>
          <a:prstGeom prst="rect">
            <a:avLst/>
          </a:prstGeom>
          <a:solidFill>
            <a:srgbClr val="1E2330"/>
          </a:solidFill>
          <a:ln/>
          <a:effectLst>
            <a:outerShdw sx="100000" sy="100000" kx="0" ky="0" algn="bl" rotWithShape="0" blurRad="177800" dist="635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04872" y="1078992"/>
            <a:ext cx="64008" cy="10058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2542032" y="1170432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R$ 31,5M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42032" y="171907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anual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(cenário realista 70%)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489704" y="1078992"/>
            <a:ext cx="1965960" cy="1005840"/>
          </a:xfrm>
          <a:prstGeom prst="rect">
            <a:avLst/>
          </a:prstGeom>
          <a:solidFill>
            <a:srgbClr val="1E2330"/>
          </a:solidFill>
          <a:ln/>
          <a:effectLst>
            <a:outerShdw sx="100000" sy="100000" kx="0" ky="0" algn="bl" rotWithShape="0" blurRad="177800" dist="63500" dir="81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89704" y="1078992"/>
            <a:ext cx="64008" cy="100584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5" name="Text 13"/>
          <p:cNvSpPr/>
          <p:nvPr/>
        </p:nvSpPr>
        <p:spPr>
          <a:xfrm>
            <a:off x="4626864" y="1170432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mês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26864" y="171907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(retorno do investimento)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574536" y="1078992"/>
            <a:ext cx="1965960" cy="1005840"/>
          </a:xfrm>
          <a:prstGeom prst="rect">
            <a:avLst/>
          </a:prstGeom>
          <a:solidFill>
            <a:srgbClr val="1E2330"/>
          </a:solidFill>
          <a:ln/>
          <a:effectLst>
            <a:outerShdw sx="100000" sy="100000" kx="0" ky="0" algn="bl" rotWithShape="0" blurRad="177800" dist="635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74536" y="1078992"/>
            <a:ext cx="64008" cy="10058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9" name="Text 17"/>
          <p:cNvSpPr/>
          <p:nvPr/>
        </p:nvSpPr>
        <p:spPr>
          <a:xfrm>
            <a:off x="6711696" y="1170432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R$ 113M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711696" y="171907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em 5 anos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(taxa desconto 12%)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" y="23317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DAS ECONOMIAS IDENTIFICADAS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063240" y="2706624"/>
            <a:ext cx="5303520" cy="2743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26700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Eliminação de processos manuais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476488" y="267004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R$ 15.3M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063240" y="3108960"/>
            <a:ext cx="4344299" cy="2743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307238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de rupturas de estoque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517267" y="307238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R$ 12.5M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063240" y="3511296"/>
            <a:ext cx="2849860" cy="2743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34747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de compras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22828" y="347472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R$ 8.2M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063240" y="3913632"/>
            <a:ext cx="2189527" cy="2743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2" name="Text 30"/>
          <p:cNvSpPr/>
          <p:nvPr/>
        </p:nvSpPr>
        <p:spPr>
          <a:xfrm>
            <a:off x="320040" y="387705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Categorização e relatórios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62495" y="387705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R$ 6.3M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063240" y="4315968"/>
            <a:ext cx="973123" cy="27432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5" name="Text 33"/>
          <p:cNvSpPr/>
          <p:nvPr/>
        </p:nvSpPr>
        <p:spPr>
          <a:xfrm>
            <a:off x="320040" y="42793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Eliminação de duplicatas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146091" y="427939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R$ 2.8M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063240" y="4718304"/>
            <a:ext cx="152919" cy="274320"/>
          </a:xfrm>
          <a:prstGeom prst="rect">
            <a:avLst/>
          </a:prstGeom>
          <a:solidFill>
            <a:srgbClr val="7C8BA1"/>
          </a:solidFill>
          <a:ln/>
        </p:spPr>
      </p:sp>
      <p:sp>
        <p:nvSpPr>
          <p:cNvPr id="38" name="Text 36"/>
          <p:cNvSpPr/>
          <p:nvPr/>
        </p:nvSpPr>
        <p:spPr>
          <a:xfrm>
            <a:off x="320040" y="468172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 de preços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325887" y="468172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R$ 0.4M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" y="5029200"/>
            <a:ext cx="8412480" cy="16459"/>
          </a:xfrm>
          <a:prstGeom prst="rect">
            <a:avLst/>
          </a:prstGeom>
          <a:solidFill>
            <a:srgbClr val="2D3548"/>
          </a:solidFill>
          <a:ln/>
        </p:spPr>
      </p:sp>
      <p:sp>
        <p:nvSpPr>
          <p:cNvPr id="41" name="Text 39"/>
          <p:cNvSpPr/>
          <p:nvPr/>
        </p:nvSpPr>
        <p:spPr>
          <a:xfrm>
            <a:off x="320040" y="4773168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identificado: R$ 45,5M/ano · 2,5% do valor total de estoque de R$ 1,83B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RISCO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Cenários de Realização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2807208" cy="3566160"/>
          </a:xfrm>
          <a:prstGeom prst="rect">
            <a:avLst/>
          </a:prstGeom>
          <a:solidFill>
            <a:srgbClr val="1E2330"/>
          </a:solidFill>
          <a:ln/>
          <a:effectLst>
            <a:outerShdw sx="100000" sy="100000" kx="0" ky="0" algn="bl" rotWithShape="0" blurRad="177800" dist="635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2807208" cy="73152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CONSERVADOR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realização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2514600" cy="16459"/>
          </a:xfrm>
          <a:prstGeom prst="rect">
            <a:avLst/>
          </a:prstGeom>
          <a:solidFill>
            <a:srgbClr val="2D354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82880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R$ 22,4M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57200" y="2377440"/>
            <a:ext cx="2514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/ano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65176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5 anos:  R$ 80,6M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90779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Payback:     &lt; 1m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2514600" cy="16459"/>
          </a:xfrm>
          <a:prstGeom prst="rect">
            <a:avLst/>
          </a:prstGeom>
          <a:solidFill>
            <a:srgbClr val="2D354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73552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 engajamento das áreas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parcial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mudança lenta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64408" y="1078992"/>
            <a:ext cx="2807208" cy="3566160"/>
          </a:xfrm>
          <a:prstGeom prst="rect">
            <a:avLst/>
          </a:prstGeom>
          <a:solidFill>
            <a:srgbClr val="252B3A"/>
          </a:solidFill>
          <a:ln/>
          <a:effectLst>
            <a:outerShdw sx="100000" sy="100000" kx="0" ky="0" algn="bl" rotWithShape="0" blurRad="177800" dist="635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64408" y="1078992"/>
            <a:ext cx="2807208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3401568" y="11887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01568" y="1463040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realização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01568" y="1737360"/>
            <a:ext cx="2514600" cy="16459"/>
          </a:xfrm>
          <a:prstGeom prst="rect">
            <a:avLst/>
          </a:prstGeom>
          <a:solidFill>
            <a:srgbClr val="2D3548"/>
          </a:solidFill>
          <a:ln/>
        </p:spPr>
      </p:sp>
      <p:sp>
        <p:nvSpPr>
          <p:cNvPr id="21" name="Text 19"/>
          <p:cNvSpPr/>
          <p:nvPr/>
        </p:nvSpPr>
        <p:spPr>
          <a:xfrm>
            <a:off x="3401568" y="182880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R$ 31,5M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3401568" y="2377440"/>
            <a:ext cx="2514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/ano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01568" y="265176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5 anos:  R$ 113,4M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01568" y="290779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Payback:     &lt; 1m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01568" y="3200400"/>
            <a:ext cx="2514600" cy="16459"/>
          </a:xfrm>
          <a:prstGeom prst="rect">
            <a:avLst/>
          </a:prstGeom>
          <a:solidFill>
            <a:srgbClr val="2D3548"/>
          </a:solidFill>
          <a:ln/>
        </p:spPr>
      </p:sp>
      <p:sp>
        <p:nvSpPr>
          <p:cNvPr id="26" name="Text 24"/>
          <p:cNvSpPr/>
          <p:nvPr/>
        </p:nvSpPr>
        <p:spPr>
          <a:xfrm>
            <a:off x="3401568" y="3273552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90 dias cumprido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alinhadas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concluído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01568" y="4425696"/>
            <a:ext cx="2514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RECOMENDADO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208776" y="1078992"/>
            <a:ext cx="2807208" cy="3566160"/>
          </a:xfrm>
          <a:prstGeom prst="rect">
            <a:avLst/>
          </a:prstGeom>
          <a:solidFill>
            <a:srgbClr val="1E2330"/>
          </a:solidFill>
          <a:ln/>
          <a:effectLst>
            <a:outerShdw sx="100000" sy="100000" kx="0" ky="0" algn="bl" rotWithShape="0" blurRad="177800" dist="63500" dir="8100000">
              <a:srgbClr val="000000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08776" y="1078992"/>
            <a:ext cx="2807208" cy="73152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0" name="Text 28"/>
          <p:cNvSpPr/>
          <p:nvPr/>
        </p:nvSpPr>
        <p:spPr>
          <a:xfrm>
            <a:off x="6345936" y="11887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OTIMISTA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45936" y="1463040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realização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345936" y="1737360"/>
            <a:ext cx="2514600" cy="16459"/>
          </a:xfrm>
          <a:prstGeom prst="rect">
            <a:avLst/>
          </a:prstGeom>
          <a:solidFill>
            <a:srgbClr val="2D3548"/>
          </a:solidFill>
          <a:ln/>
        </p:spPr>
      </p:sp>
      <p:sp>
        <p:nvSpPr>
          <p:cNvPr id="33" name="Text 31"/>
          <p:cNvSpPr/>
          <p:nvPr/>
        </p:nvSpPr>
        <p:spPr>
          <a:xfrm>
            <a:off x="6345936" y="182880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R$ 40,2M</a:t>
            </a:r>
            <a:endParaRPr lang="en-US" sz="3400" dirty="0"/>
          </a:p>
        </p:txBody>
      </p:sp>
      <p:sp>
        <p:nvSpPr>
          <p:cNvPr id="34" name="Text 32"/>
          <p:cNvSpPr/>
          <p:nvPr/>
        </p:nvSpPr>
        <p:spPr>
          <a:xfrm>
            <a:off x="6345936" y="2377440"/>
            <a:ext cx="2514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/ano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45936" y="265176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5 anos:  R$ 144,9M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45936" y="290779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Payback:     &lt; 1m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45936" y="3200400"/>
            <a:ext cx="2514600" cy="16459"/>
          </a:xfrm>
          <a:prstGeom prst="rect">
            <a:avLst/>
          </a:prstGeom>
          <a:solidFill>
            <a:srgbClr val="2D3548"/>
          </a:solidFill>
          <a:ln/>
        </p:spPr>
      </p:sp>
      <p:sp>
        <p:nvSpPr>
          <p:cNvPr id="38" name="Text 36"/>
          <p:cNvSpPr/>
          <p:nvPr/>
        </p:nvSpPr>
        <p:spPr>
          <a:xfrm>
            <a:off x="6345936" y="3273552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acelerada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engajamento da diretoria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total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20040" y="4773168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positivo em todos os 3 cenários · Investimento se paga mesmo com apenas 10% de realização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ESTOQUE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ABC e Prioridade de Atenção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2807208" cy="2286000"/>
          </a:xfrm>
          <a:prstGeom prst="rect">
            <a:avLst/>
          </a:prstGeom>
          <a:solidFill>
            <a:srgbClr val="1E2330"/>
          </a:solidFill>
          <a:ln/>
          <a:effectLst>
            <a:outerShdw sx="100000" sy="100000" kx="0" ky="0" algn="bl" rotWithShape="0" blurRad="177800" dist="635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73152" cy="2286000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704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323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02920" y="202996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 · 11% da base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 80% do valor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diário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ruptura tolerada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64408" y="1078992"/>
            <a:ext cx="2807208" cy="2286000"/>
          </a:xfrm>
          <a:prstGeom prst="rect">
            <a:avLst/>
          </a:prstGeom>
          <a:solidFill>
            <a:srgbClr val="1E2330"/>
          </a:solidFill>
          <a:ln/>
          <a:effectLst>
            <a:outerShdw sx="100000" sy="100000" kx="0" ky="0" algn="bl" rotWithShape="0" blurRad="177800" dist="635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4408" y="1078992"/>
            <a:ext cx="73152" cy="228600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3" name="Text 11"/>
          <p:cNvSpPr/>
          <p:nvPr/>
        </p:nvSpPr>
        <p:spPr>
          <a:xfrm>
            <a:off x="3447288" y="11704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47288" y="14173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432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3447288" y="202996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 · 15% da base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47288" y="228600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 15% do valor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semanal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Reprogramação mensal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08776" y="1078992"/>
            <a:ext cx="2807208" cy="2286000"/>
          </a:xfrm>
          <a:prstGeom prst="rect">
            <a:avLst/>
          </a:prstGeom>
          <a:solidFill>
            <a:srgbClr val="1E2330"/>
          </a:solidFill>
          <a:ln/>
          <a:effectLst>
            <a:outerShdw sx="100000" sy="100000" kx="0" ky="0" algn="bl" rotWithShape="0" blurRad="177800" dist="635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08776" y="1078992"/>
            <a:ext cx="73152" cy="22860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9" name="Text 17"/>
          <p:cNvSpPr/>
          <p:nvPr/>
        </p:nvSpPr>
        <p:spPr>
          <a:xfrm>
            <a:off x="6391656" y="11704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91656" y="14173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2.246</a:t>
            </a:r>
            <a:endParaRPr lang="en-US" sz="4600" dirty="0"/>
          </a:p>
        </p:txBody>
      </p:sp>
      <p:sp>
        <p:nvSpPr>
          <p:cNvPr id="21" name="Text 19"/>
          <p:cNvSpPr/>
          <p:nvPr/>
        </p:nvSpPr>
        <p:spPr>
          <a:xfrm>
            <a:off x="6391656" y="202996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 · 74% da base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91656" y="228600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 5% do valor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mensal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Candidatos a inativação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0040" y="35478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 ATUAL DOS ESTOQUES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0040" y="3858768"/>
            <a:ext cx="1627632" cy="1051560"/>
          </a:xfrm>
          <a:prstGeom prst="rect">
            <a:avLst/>
          </a:prstGeom>
          <a:solidFill>
            <a:srgbClr val="1E2330"/>
          </a:solidFill>
          <a:ln/>
          <a:effectLst>
            <a:outerShdw sx="100000" sy="100000" kx="0" ky="0" algn="bl" rotWithShape="0" blurRad="177800" dist="63500" dir="8100000">
              <a:srgbClr val="00000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858768"/>
            <a:ext cx="1627632" cy="64008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3968496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1.516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411480" y="4443984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039112" y="3858768"/>
            <a:ext cx="1627632" cy="1051560"/>
          </a:xfrm>
          <a:prstGeom prst="rect">
            <a:avLst/>
          </a:prstGeom>
          <a:solidFill>
            <a:srgbClr val="1E2330"/>
          </a:solidFill>
          <a:ln/>
          <a:effectLst>
            <a:outerShdw sx="100000" sy="100000" kx="0" ky="0" algn="bl" rotWithShape="0" blurRad="177800" dist="63500" dir="8100000">
              <a:srgbClr val="000000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039112" y="3858768"/>
            <a:ext cx="1627632" cy="64008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0" name="Text 28"/>
          <p:cNvSpPr/>
          <p:nvPr/>
        </p:nvSpPr>
        <p:spPr>
          <a:xfrm>
            <a:off x="2130552" y="3968496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2130552" y="4443984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alerta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758184" y="3858768"/>
            <a:ext cx="1627632" cy="1051560"/>
          </a:xfrm>
          <a:prstGeom prst="rect">
            <a:avLst/>
          </a:prstGeom>
          <a:solidFill>
            <a:srgbClr val="1E2330"/>
          </a:solidFill>
          <a:ln/>
          <a:effectLst>
            <a:outerShdw sx="100000" sy="100000" kx="0" ky="0" algn="bl" rotWithShape="0" blurRad="177800" dist="63500" dir="8100000">
              <a:srgbClr val="000000">
                <a:alpha val="2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758184" y="3858768"/>
            <a:ext cx="1627632" cy="64008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34" name="Text 32"/>
          <p:cNvSpPr/>
          <p:nvPr/>
        </p:nvSpPr>
        <p:spPr>
          <a:xfrm>
            <a:off x="3849624" y="3968496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3849624" y="4443984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Abaixo mínimo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77256" y="3858768"/>
            <a:ext cx="1627632" cy="1051560"/>
          </a:xfrm>
          <a:prstGeom prst="rect">
            <a:avLst/>
          </a:prstGeom>
          <a:solidFill>
            <a:srgbClr val="1E2330"/>
          </a:solidFill>
          <a:ln/>
          <a:effectLst>
            <a:outerShdw sx="100000" sy="100000" kx="0" ky="0" algn="bl" rotWithShape="0" blurRad="177800" dist="63500" dir="8100000">
              <a:srgbClr val="000000">
                <a:alpha val="2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477256" y="3858768"/>
            <a:ext cx="1627632" cy="64008"/>
          </a:xfrm>
          <a:prstGeom prst="rect">
            <a:avLst/>
          </a:prstGeom>
          <a:solidFill>
            <a:srgbClr val="7C8BA1"/>
          </a:solidFill>
          <a:ln/>
        </p:spPr>
      </p:sp>
      <p:sp>
        <p:nvSpPr>
          <p:cNvPr id="38" name="Text 36"/>
          <p:cNvSpPr/>
          <p:nvPr/>
        </p:nvSpPr>
        <p:spPr>
          <a:xfrm>
            <a:off x="5568696" y="3968496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660</a:t>
            </a:r>
            <a:endParaRPr lang="en-US" sz="3000" dirty="0"/>
          </a:p>
        </p:txBody>
      </p:sp>
      <p:sp>
        <p:nvSpPr>
          <p:cNvPr id="39" name="Text 37"/>
          <p:cNvSpPr/>
          <p:nvPr/>
        </p:nvSpPr>
        <p:spPr>
          <a:xfrm>
            <a:off x="5568696" y="4443984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mínimo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196328" y="3858768"/>
            <a:ext cx="1627632" cy="1051560"/>
          </a:xfrm>
          <a:prstGeom prst="rect">
            <a:avLst/>
          </a:prstGeom>
          <a:solidFill>
            <a:srgbClr val="1E2330"/>
          </a:solidFill>
          <a:ln/>
          <a:effectLst>
            <a:outerShdw sx="100000" sy="100000" kx="0" ky="0" algn="bl" rotWithShape="0" blurRad="177800" dist="63500" dir="8100000">
              <a:srgbClr val="000000">
                <a:alpha val="2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196328" y="3858768"/>
            <a:ext cx="1627632" cy="64008"/>
          </a:xfrm>
          <a:prstGeom prst="rect">
            <a:avLst/>
          </a:prstGeom>
          <a:solidFill>
            <a:srgbClr val="7C8BA1"/>
          </a:solidFill>
          <a:ln/>
        </p:spPr>
      </p:sp>
      <p:sp>
        <p:nvSpPr>
          <p:cNvPr id="42" name="Text 40"/>
          <p:cNvSpPr/>
          <p:nvPr/>
        </p:nvSpPr>
        <p:spPr>
          <a:xfrm>
            <a:off x="7287768" y="3968496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43" name="Text 41"/>
          <p:cNvSpPr/>
          <p:nvPr/>
        </p:nvSpPr>
        <p:spPr>
          <a:xfrm>
            <a:off x="7287768" y="4443984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Zerado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 Implementação — 90 Dias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807208" cy="3566160"/>
          </a:xfrm>
          <a:prstGeom prst="rect">
            <a:avLst/>
          </a:prstGeom>
          <a:solidFill>
            <a:srgbClr val="1E2330"/>
          </a:solidFill>
          <a:ln/>
          <a:effectLst>
            <a:outerShdw sx="100000" sy="100000" kx="0" ky="0" algn="bl" rotWithShape="0" blurRad="177800" dist="635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2807208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74520" y="10972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6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1–4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664208"/>
            <a:ext cx="2487168" cy="347472"/>
          </a:xfrm>
          <a:prstGeom prst="rect">
            <a:avLst/>
          </a:prstGeom>
          <a:solidFill>
            <a:srgbClr val="252B3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64208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potencial: R$ 11,5M/ano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21408"/>
            <a:ext cx="201168" cy="20116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103120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Corrigir 99 preços zerados (1 dia)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724912"/>
            <a:ext cx="201168" cy="20116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7066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 bloquear 299 duplicatas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328416"/>
            <a:ext cx="201168" cy="20116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310128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Ativar pipeline em produção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201168" cy="20116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13632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NCM curva A — 240 materiais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64408" y="1097280"/>
            <a:ext cx="2807208" cy="3566160"/>
          </a:xfrm>
          <a:prstGeom prst="rect">
            <a:avLst/>
          </a:prstGeom>
          <a:solidFill>
            <a:srgbClr val="1E2330"/>
          </a:solidFill>
          <a:ln/>
          <a:effectLst>
            <a:outerShdw sx="100000" sy="100000" kx="0" ky="0" algn="bl" rotWithShape="0" blurRad="177800" dist="63500" dir="81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64408" y="1097280"/>
            <a:ext cx="2807208" cy="4572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1" name="Text 19"/>
          <p:cNvSpPr/>
          <p:nvPr/>
        </p:nvSpPr>
        <p:spPr>
          <a:xfrm>
            <a:off x="3401568" y="1097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18888" y="10972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6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5–10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01568" y="1664208"/>
            <a:ext cx="2487168" cy="347472"/>
          </a:xfrm>
          <a:prstGeom prst="rect">
            <a:avLst/>
          </a:prstGeom>
          <a:solidFill>
            <a:srgbClr val="252B3A"/>
          </a:solidFill>
          <a:ln/>
        </p:spPr>
      </p:sp>
      <p:sp>
        <p:nvSpPr>
          <p:cNvPr id="24" name="Text 22"/>
          <p:cNvSpPr/>
          <p:nvPr/>
        </p:nvSpPr>
        <p:spPr>
          <a:xfrm>
            <a:off x="3401568" y="1664208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potencial: R$ 22,8M/ano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01568" y="2121408"/>
            <a:ext cx="201168" cy="20116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6" name="Text 24"/>
          <p:cNvSpPr/>
          <p:nvPr/>
        </p:nvSpPr>
        <p:spPr>
          <a:xfrm>
            <a:off x="3675888" y="2103120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estoque mínimo — 660 materiais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01568" y="2724912"/>
            <a:ext cx="201168" cy="20116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8" name="Text 26"/>
          <p:cNvSpPr/>
          <p:nvPr/>
        </p:nvSpPr>
        <p:spPr>
          <a:xfrm>
            <a:off x="3675888" y="27066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Cadastrar 660 fornecedores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01568" y="3328416"/>
            <a:ext cx="201168" cy="20116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0" name="Text 28"/>
          <p:cNvSpPr/>
          <p:nvPr/>
        </p:nvSpPr>
        <p:spPr>
          <a:xfrm>
            <a:off x="3675888" y="3310128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Inativar 809 obsoletos (com gestores)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01568" y="3931920"/>
            <a:ext cx="201168" cy="20116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2" name="Text 30"/>
          <p:cNvSpPr/>
          <p:nvPr/>
        </p:nvSpPr>
        <p:spPr>
          <a:xfrm>
            <a:off x="3675888" y="3913632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NCM curvas B e C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08776" y="1097280"/>
            <a:ext cx="2807208" cy="3566160"/>
          </a:xfrm>
          <a:prstGeom prst="rect">
            <a:avLst/>
          </a:prstGeom>
          <a:solidFill>
            <a:srgbClr val="1E2330"/>
          </a:solidFill>
          <a:ln/>
          <a:effectLst>
            <a:outerShdw sx="100000" sy="100000" kx="0" ky="0" algn="bl" rotWithShape="0" blurRad="177800" dist="63500" dir="8100000">
              <a:srgbClr val="000000">
                <a:alpha val="2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08776" y="1097280"/>
            <a:ext cx="2807208" cy="4572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5" name="Text 33"/>
          <p:cNvSpPr/>
          <p:nvPr/>
        </p:nvSpPr>
        <p:spPr>
          <a:xfrm>
            <a:off x="6345936" y="1097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763256" y="10972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6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11–13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345936" y="1664208"/>
            <a:ext cx="2487168" cy="347472"/>
          </a:xfrm>
          <a:prstGeom prst="rect">
            <a:avLst/>
          </a:prstGeom>
          <a:solidFill>
            <a:srgbClr val="252B3A"/>
          </a:solidFill>
          <a:ln/>
        </p:spPr>
      </p:sp>
      <p:sp>
        <p:nvSpPr>
          <p:cNvPr id="38" name="Text 36"/>
          <p:cNvSpPr/>
          <p:nvPr/>
        </p:nvSpPr>
        <p:spPr>
          <a:xfrm>
            <a:off x="6345936" y="1664208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potencial: R$ 6,1M/ano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45936" y="2121408"/>
            <a:ext cx="201168" cy="201168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40" name="Text 38"/>
          <p:cNvSpPr/>
          <p:nvPr/>
        </p:nvSpPr>
        <p:spPr>
          <a:xfrm>
            <a:off x="6620256" y="2103120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KPIs em produção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345936" y="2724912"/>
            <a:ext cx="201168" cy="201168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42" name="Text 40"/>
          <p:cNvSpPr/>
          <p:nvPr/>
        </p:nvSpPr>
        <p:spPr>
          <a:xfrm>
            <a:off x="6620256" y="27066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Treinar toda a equipe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345936" y="3328416"/>
            <a:ext cx="201168" cy="201168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44" name="Text 42"/>
          <p:cNvSpPr/>
          <p:nvPr/>
        </p:nvSpPr>
        <p:spPr>
          <a:xfrm>
            <a:off x="6620256" y="3310128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fiscal/CST bloqueados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345936" y="3931920"/>
            <a:ext cx="201168" cy="201168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46" name="Text 44"/>
          <p:cNvSpPr/>
          <p:nvPr/>
        </p:nvSpPr>
        <p:spPr>
          <a:xfrm>
            <a:off x="6620256" y="3913632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final — QA ≥ 97%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20040" y="4681728"/>
            <a:ext cx="8503920" cy="347472"/>
          </a:xfrm>
          <a:prstGeom prst="rect">
            <a:avLst/>
          </a:prstGeom>
          <a:solidFill>
            <a:srgbClr val="252B3A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68172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12 iniciativas · 340h de esforço · R$ 40,4M/ano endereçados · Prazo: 13 semanas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 CONTÍNUA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Monitoramento Pós-Projeto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069080" cy="3566160"/>
          </a:xfrm>
          <a:prstGeom prst="rect">
            <a:avLst/>
          </a:prstGeom>
          <a:solidFill>
            <a:srgbClr val="1E2330"/>
          </a:solidFill>
          <a:ln/>
          <a:effectLst>
            <a:outerShdw sx="100000" sy="100000" kx="0" ky="0" algn="bl" rotWithShape="0" blurRad="177800" dist="635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4069080" cy="38404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78992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6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KPIs DE QUALIDADE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Completude geral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06040" y="157276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95%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29000" y="1572768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938528"/>
            <a:ext cx="3749040" cy="16459"/>
          </a:xfrm>
          <a:prstGeom prst="rect">
            <a:avLst/>
          </a:prstGeom>
          <a:solidFill>
            <a:srgbClr val="2D354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06654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NCM válido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06040" y="2066544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100%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29000" y="2066544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432304"/>
            <a:ext cx="3749040" cy="16459"/>
          </a:xfrm>
          <a:prstGeom prst="rect">
            <a:avLst/>
          </a:prstGeom>
          <a:solidFill>
            <a:srgbClr val="2D3548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56032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Acuracidade de preços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06040" y="256032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95%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29000" y="256032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3749040" cy="16459"/>
          </a:xfrm>
          <a:prstGeom prst="rect">
            <a:avLst/>
          </a:prstGeom>
          <a:solidFill>
            <a:srgbClr val="2D3548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05409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Fornecedor cadastrado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06040" y="3054096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29000" y="3054096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419856"/>
            <a:ext cx="3749040" cy="16459"/>
          </a:xfrm>
          <a:prstGeom prst="rect">
            <a:avLst/>
          </a:prstGeom>
          <a:solidFill>
            <a:srgbClr val="2D3548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54787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mínimo definido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606040" y="354787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29000" y="3547872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913632"/>
            <a:ext cx="3749040" cy="16459"/>
          </a:xfrm>
          <a:prstGeom prst="rect">
            <a:avLst/>
          </a:prstGeom>
          <a:solidFill>
            <a:srgbClr val="2D3548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04164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ponderado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606040" y="404164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429000" y="4041648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1078992"/>
            <a:ext cx="4069080" cy="3566160"/>
          </a:xfrm>
          <a:prstGeom prst="rect">
            <a:avLst/>
          </a:prstGeom>
          <a:solidFill>
            <a:srgbClr val="1E2330"/>
          </a:solidFill>
          <a:ln/>
          <a:effectLst>
            <a:outerShdw sx="100000" sy="100000" kx="0" ky="0" algn="bl" rotWithShape="0" blurRad="177800" dist="63500" dir="8100000">
              <a:srgbClr val="000000">
                <a:alpha val="2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1078992"/>
            <a:ext cx="4069080" cy="3840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3" name="Text 31"/>
          <p:cNvSpPr/>
          <p:nvPr/>
        </p:nvSpPr>
        <p:spPr>
          <a:xfrm>
            <a:off x="4892040" y="1078992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6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SLAs OPERACIONAIS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92040" y="15727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Auto-aprovação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766560" y="157276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424928" y="1572768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AUTOMÁTICO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892040" y="1938528"/>
            <a:ext cx="3749040" cy="16459"/>
          </a:xfrm>
          <a:prstGeom prst="rect">
            <a:avLst/>
          </a:prstGeom>
          <a:solidFill>
            <a:srgbClr val="2D3548"/>
          </a:solidFill>
          <a:ln/>
        </p:spPr>
      </p:sp>
      <p:sp>
        <p:nvSpPr>
          <p:cNvPr id="38" name="Text 36"/>
          <p:cNvSpPr/>
          <p:nvPr/>
        </p:nvSpPr>
        <p:spPr>
          <a:xfrm>
            <a:off x="4892040" y="206654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cadastro c/ alerta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766560" y="2066544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4h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424928" y="2066544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892040" y="2432304"/>
            <a:ext cx="3749040" cy="16459"/>
          </a:xfrm>
          <a:prstGeom prst="rect">
            <a:avLst/>
          </a:prstGeom>
          <a:solidFill>
            <a:srgbClr val="2D3548"/>
          </a:solidFill>
          <a:ln/>
        </p:spPr>
      </p:sp>
      <p:sp>
        <p:nvSpPr>
          <p:cNvPr id="42" name="Text 40"/>
          <p:cNvSpPr/>
          <p:nvPr/>
        </p:nvSpPr>
        <p:spPr>
          <a:xfrm>
            <a:off x="4892040" y="25603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cadastro c/ erros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766560" y="256032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424928" y="256032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MDO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892040" y="2926080"/>
            <a:ext cx="3749040" cy="16459"/>
          </a:xfrm>
          <a:prstGeom prst="rect">
            <a:avLst/>
          </a:prstGeom>
          <a:solidFill>
            <a:srgbClr val="2D3548"/>
          </a:solidFill>
          <a:ln/>
        </p:spPr>
      </p:sp>
      <p:sp>
        <p:nvSpPr>
          <p:cNvPr id="46" name="Text 44"/>
          <p:cNvSpPr/>
          <p:nvPr/>
        </p:nvSpPr>
        <p:spPr>
          <a:xfrm>
            <a:off x="4892040" y="305409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Bloqueio de duplicata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766560" y="305409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424928" y="3054096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MDO — CRÍTICO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892040" y="3419856"/>
            <a:ext cx="3749040" cy="16459"/>
          </a:xfrm>
          <a:prstGeom prst="rect">
            <a:avLst/>
          </a:prstGeom>
          <a:solidFill>
            <a:srgbClr val="2D3548"/>
          </a:solidFill>
          <a:ln/>
        </p:spPr>
      </p:sp>
      <p:sp>
        <p:nvSpPr>
          <p:cNvPr id="50" name="Text 48"/>
          <p:cNvSpPr/>
          <p:nvPr/>
        </p:nvSpPr>
        <p:spPr>
          <a:xfrm>
            <a:off x="4892040" y="35478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 de NCM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766560" y="3547872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424928" y="354787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892040" y="3913632"/>
            <a:ext cx="3749040" cy="16459"/>
          </a:xfrm>
          <a:prstGeom prst="rect">
            <a:avLst/>
          </a:prstGeom>
          <a:solidFill>
            <a:srgbClr val="2D3548"/>
          </a:solidFill>
          <a:ln/>
        </p:spPr>
      </p:sp>
      <p:sp>
        <p:nvSpPr>
          <p:cNvPr id="54" name="Text 52"/>
          <p:cNvSpPr/>
          <p:nvPr/>
        </p:nvSpPr>
        <p:spPr>
          <a:xfrm>
            <a:off x="4892040" y="40416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Inativação de obsoleto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766560" y="404164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48h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424928" y="4041648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20040" y="4773168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automatizado via dashboard HTML · Alertas semanais por email para gestores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RECOMENDAÇÕES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Diretoria Precisa Aprovar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822960"/>
          </a:xfrm>
          <a:prstGeom prst="rect">
            <a:avLst/>
          </a:prstGeom>
          <a:solidFill>
            <a:srgbClr val="1E2330"/>
          </a:solidFill>
          <a:ln/>
          <a:effectLst>
            <a:outerShdw sx="100000" sy="100000" kx="0" ky="0" algn="bl" rotWithShape="0" blurRad="177800" dist="635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594360" cy="8229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97280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24128" y="117043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Aprovar o Roadmap 90 dias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4128" y="1481328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Autorizar as 12 iniciativas de implementação com budget de R$ 57k já documentado. NPV de R$ 113M justifica aprovação imediata.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040880" y="1298448"/>
            <a:ext cx="1600200" cy="32918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0" y="1298448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IMEDIATA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029968"/>
            <a:ext cx="8503920" cy="822960"/>
          </a:xfrm>
          <a:prstGeom prst="rect">
            <a:avLst/>
          </a:prstGeom>
          <a:solidFill>
            <a:srgbClr val="1E2330"/>
          </a:solidFill>
          <a:ln/>
          <a:effectLst>
            <a:outerShdw sx="100000" sy="100000" kx="0" ky="0" algn="bl" rotWithShape="0" blurRad="177800" dist="635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029968"/>
            <a:ext cx="594360" cy="8229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2029968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24128" y="21031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Designar responsáveis por área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24128" y="2414016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(fornecedores), Fiscal (NCM), Operações (obsoletos) e TI (pipeline). Cada área precisa de 1 ponto focal com dedicação de 4h/semana.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040880" y="2231136"/>
            <a:ext cx="1600200" cy="32918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2231136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962656"/>
            <a:ext cx="8503920" cy="822960"/>
          </a:xfrm>
          <a:prstGeom prst="rect">
            <a:avLst/>
          </a:prstGeom>
          <a:solidFill>
            <a:srgbClr val="1E2330"/>
          </a:solidFill>
          <a:ln/>
          <a:effectLst>
            <a:outerShdw sx="100000" sy="100000" kx="0" ky="0" algn="bl" rotWithShape="0" blurRad="177800" dist="63500" dir="81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962656"/>
            <a:ext cx="594360" cy="82296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2962656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24128" y="303580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Autorizar acesso ao ERP para ajustes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24128" y="3346704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precisa de permissão de escrita para automatizar aprovações. Escopo limitado: cadastro e atualização de campos mapeados.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040880" y="3163824"/>
            <a:ext cx="1600200" cy="32918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5" name="Text 23"/>
          <p:cNvSpPr/>
          <p:nvPr/>
        </p:nvSpPr>
        <p:spPr>
          <a:xfrm>
            <a:off x="7040880" y="3163824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895344"/>
            <a:ext cx="8503920" cy="822960"/>
          </a:xfrm>
          <a:prstGeom prst="rect">
            <a:avLst/>
          </a:prstGeom>
          <a:solidFill>
            <a:srgbClr val="1E2330"/>
          </a:solidFill>
          <a:ln/>
          <a:effectLst>
            <a:outerShdw sx="100000" sy="100000" kx="0" ky="0" algn="bl" rotWithShape="0" blurRad="177800" dist="63500" dir="8100000">
              <a:srgbClr val="000000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895344"/>
            <a:ext cx="594360" cy="82296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" y="3895344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24128" y="396849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meta de qualidade para 2026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24128" y="4279392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Proposta: Score ponderado ≥ 92% mantido · NCM 100% em 90 dias · Duplicatas = 0. Revisão trimestral com KPIs automatizados.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040880" y="4096512"/>
            <a:ext cx="1600200" cy="329184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0" y="4096512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91840"/>
            <a:ext cx="9144000" cy="1851660"/>
          </a:xfrm>
          <a:prstGeom prst="rect">
            <a:avLst/>
          </a:prstGeom>
          <a:solidFill>
            <a:srgbClr val="1E23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943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MDM Supply Chain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ruins custam.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1609344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bons pagam.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39572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projeto identificou R$ 45,5M em oportunidades dentro de uma base que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existe na empresa. O investimento é R$ 57k. A decisão é simples.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3364992"/>
            <a:ext cx="1627632" cy="1554480"/>
          </a:xfrm>
          <a:prstGeom prst="rect">
            <a:avLst/>
          </a:prstGeom>
          <a:solidFill>
            <a:srgbClr val="252B3A"/>
          </a:solidFill>
          <a:ln w="12700">
            <a:solidFill>
              <a:srgbClr val="2D35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3438144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0040" y="4041648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Python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automatizados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039112" y="3364992"/>
            <a:ext cx="1627632" cy="1554480"/>
          </a:xfrm>
          <a:prstGeom prst="rect">
            <a:avLst/>
          </a:prstGeom>
          <a:solidFill>
            <a:srgbClr val="252B3A"/>
          </a:solidFill>
          <a:ln w="12700">
            <a:solidFill>
              <a:srgbClr val="2D35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39112" y="3438144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039112" y="4041648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de projeto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(Dias 1–31)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758184" y="3364992"/>
            <a:ext cx="1627632" cy="1554480"/>
          </a:xfrm>
          <a:prstGeom prst="rect">
            <a:avLst/>
          </a:prstGeom>
          <a:solidFill>
            <a:srgbClr val="252B3A"/>
          </a:solidFill>
          <a:ln w="12700">
            <a:solidFill>
              <a:srgbClr val="2D35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58184" y="3438144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3.300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758184" y="4041648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analisados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477256" y="3364992"/>
            <a:ext cx="1627632" cy="1554480"/>
          </a:xfrm>
          <a:prstGeom prst="rect">
            <a:avLst/>
          </a:prstGeom>
          <a:solidFill>
            <a:srgbClr val="252B3A"/>
          </a:solidFill>
          <a:ln w="12700">
            <a:solidFill>
              <a:srgbClr val="2D35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77256" y="3438144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477256" y="4041648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QA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196328" y="3364992"/>
            <a:ext cx="1627632" cy="1554480"/>
          </a:xfrm>
          <a:prstGeom prst="rect">
            <a:avLst/>
          </a:prstGeom>
          <a:solidFill>
            <a:srgbClr val="252B3A"/>
          </a:solidFill>
          <a:ln w="12700">
            <a:solidFill>
              <a:srgbClr val="2D35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96328" y="3438144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R$ 45,5M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96328" y="4041648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MDM Supply Chain Project · Março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MDM Supply Chain — Apresentação Final</dc:title>
  <dc:subject>PptxGenJS Presentation</dc:subject>
  <dc:creator>PptxGenJS</dc:creator>
  <cp:lastModifiedBy>PptxGenJS</cp:lastModifiedBy>
  <cp:revision>1</cp:revision>
  <dcterms:created xsi:type="dcterms:W3CDTF">2026-03-05T22:23:29Z</dcterms:created>
  <dcterms:modified xsi:type="dcterms:W3CDTF">2026-03-05T22:23:29Z</dcterms:modified>
</cp:coreProperties>
</file>